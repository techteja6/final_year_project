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330" r:id="rId3"/>
    <p:sldId id="258" r:id="rId4"/>
    <p:sldId id="302" r:id="rId5"/>
    <p:sldId id="303" r:id="rId6"/>
    <p:sldId id="304" r:id="rId7"/>
    <p:sldId id="305" r:id="rId8"/>
    <p:sldId id="306" r:id="rId9"/>
    <p:sldId id="307" r:id="rId10"/>
    <p:sldId id="259" r:id="rId11"/>
    <p:sldId id="272" r:id="rId12"/>
    <p:sldId id="308" r:id="rId13"/>
    <p:sldId id="309" r:id="rId14"/>
    <p:sldId id="328" r:id="rId15"/>
    <p:sldId id="340" r:id="rId16"/>
    <p:sldId id="337" r:id="rId17"/>
    <p:sldId id="336" r:id="rId18"/>
    <p:sldId id="261" r:id="rId19"/>
    <p:sldId id="275" r:id="rId20"/>
    <p:sldId id="339" r:id="rId21"/>
    <p:sldId id="332" r:id="rId22"/>
    <p:sldId id="291" r:id="rId23"/>
    <p:sldId id="342" r:id="rId24"/>
    <p:sldId id="292" r:id="rId25"/>
    <p:sldId id="265" r:id="rId26"/>
    <p:sldId id="266" r:id="rId27"/>
    <p:sldId id="284" r:id="rId28"/>
    <p:sldId id="267" r:id="rId29"/>
    <p:sldId id="268" r:id="rId30"/>
    <p:sldId id="269"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1" userDrawn="1">
          <p15:clr>
            <a:srgbClr val="A4A3A4"/>
          </p15:clr>
        </p15:guide>
        <p15:guide id="2" pos="29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35" autoAdjust="0"/>
  </p:normalViewPr>
  <p:slideViewPr>
    <p:cSldViewPr showGuides="1">
      <p:cViewPr varScale="1">
        <p:scale>
          <a:sx n="74" d="100"/>
          <a:sy n="74" d="100"/>
        </p:scale>
        <p:origin x="1714" y="67"/>
      </p:cViewPr>
      <p:guideLst>
        <p:guide orient="horz" pos="2181"/>
        <p:guide pos="293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 vejju" userId="f7cbb35b257c26bd" providerId="LiveId" clId="{5CB71741-41DA-46CA-8E32-D5CF32E6EA26}"/>
    <pc:docChg chg="custSel modSld">
      <pc:chgData name="teja vejju" userId="f7cbb35b257c26bd" providerId="LiveId" clId="{5CB71741-41DA-46CA-8E32-D5CF32E6EA26}" dt="2025-04-16T05:26:29.630" v="2" actId="123"/>
      <pc:docMkLst>
        <pc:docMk/>
      </pc:docMkLst>
      <pc:sldChg chg="modSp mod">
        <pc:chgData name="teja vejju" userId="f7cbb35b257c26bd" providerId="LiveId" clId="{5CB71741-41DA-46CA-8E32-D5CF32E6EA26}" dt="2025-04-16T05:26:29.630" v="2" actId="123"/>
        <pc:sldMkLst>
          <pc:docMk/>
          <pc:sldMk cId="577137352" sldId="284"/>
        </pc:sldMkLst>
        <pc:spChg chg="mod">
          <ac:chgData name="teja vejju" userId="f7cbb35b257c26bd" providerId="LiveId" clId="{5CB71741-41DA-46CA-8E32-D5CF32E6EA26}" dt="2025-04-16T05:26:29.630" v="2" actId="123"/>
          <ac:spMkLst>
            <pc:docMk/>
            <pc:sldMk cId="577137352" sldId="284"/>
            <ac:spMk id="3" creationId="{934150E2-5BE4-416D-B2B2-D2266DF5256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792620-CD93-4331-B089-1E20CBFE5461}" type="datetimeFigureOut">
              <a:rPr lang="en-IN" smtClean="0"/>
              <a:t>16-04-2025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56A1B6-9CE0-4A30-A34D-8CFC6E4CEEF1}" type="slidenum">
              <a:rPr lang="en-IN" smtClean="0"/>
              <a:t>‹#›</a:t>
            </a:fld>
            <a:endParaRPr lang="en-IN"/>
          </a:p>
        </p:txBody>
      </p:sp>
    </p:spTree>
    <p:extLst>
      <p:ext uri="{BB962C8B-B14F-4D97-AF65-F5344CB8AC3E}">
        <p14:creationId xmlns:p14="http://schemas.microsoft.com/office/powerpoint/2010/main" val="3040365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456A1B6-9CE0-4A30-A34D-8CFC6E4CEEF1}" type="slidenum">
              <a:rPr lang="en-IN" smtClean="0"/>
              <a:t>29</a:t>
            </a:fld>
            <a:endParaRPr lang="en-IN"/>
          </a:p>
        </p:txBody>
      </p:sp>
    </p:spTree>
    <p:extLst>
      <p:ext uri="{BB962C8B-B14F-4D97-AF65-F5344CB8AC3E}">
        <p14:creationId xmlns:p14="http://schemas.microsoft.com/office/powerpoint/2010/main" val="3192990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4/16/2025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66675"/>
            <a:ext cx="9144000" cy="1050925"/>
          </a:xfrm>
        </p:spPr>
        <p:txBody>
          <a:bodyPr>
            <a:noAutofit/>
          </a:bodyPr>
          <a:lstStyle/>
          <a:p>
            <a:r>
              <a:rPr lang="en-US" sz="2000" b="1" dirty="0">
                <a:latin typeface="Times New Roman" panose="02020603050405020304" pitchFamily="18" charset="0"/>
                <a:cs typeface="Times New Roman" panose="02020603050405020304" pitchFamily="18" charset="0"/>
              </a:rPr>
              <a:t>A SECURE AND SMART HOME AUTOMATION SYSTEM WITH SPEECH</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RECOGNITION AND POWER MEASUREMENT CAPABILITIES</a:t>
            </a:r>
          </a:p>
        </p:txBody>
      </p:sp>
      <p:sp>
        <p:nvSpPr>
          <p:cNvPr id="3" name="Subtitle 2"/>
          <p:cNvSpPr>
            <a:spLocks noGrp="1"/>
          </p:cNvSpPr>
          <p:nvPr>
            <p:ph type="subTitle" idx="1"/>
          </p:nvPr>
        </p:nvSpPr>
        <p:spPr>
          <a:xfrm>
            <a:off x="63500" y="991235"/>
            <a:ext cx="9081135" cy="5814060"/>
          </a:xfrm>
        </p:spPr>
        <p:txBody>
          <a:bodyPr>
            <a:normAutofit fontScale="72500" lnSpcReduction="20000"/>
          </a:bodyPr>
          <a:lstStyle/>
          <a:p>
            <a:r>
              <a:rPr lang="en-GB" dirty="0">
                <a:solidFill>
                  <a:schemeClr val="tx1"/>
                </a:solidFill>
                <a:latin typeface="Times New Roman" panose="02020603050405020304" pitchFamily="18" charset="0"/>
                <a:cs typeface="Times New Roman" panose="02020603050405020304" pitchFamily="18" charset="0"/>
              </a:rPr>
              <a:t>Presented </a:t>
            </a:r>
            <a:r>
              <a:rPr lang="en-US" dirty="0">
                <a:solidFill>
                  <a:schemeClr val="tx1"/>
                </a:solidFill>
                <a:latin typeface="Times New Roman" panose="02020603050405020304" pitchFamily="18" charset="0"/>
                <a:cs typeface="Times New Roman" panose="02020603050405020304" pitchFamily="18" charset="0"/>
              </a:rPr>
              <a:t>by  </a:t>
            </a:r>
          </a:p>
          <a:p>
            <a:r>
              <a:rPr lang="en-US" dirty="0">
                <a:solidFill>
                  <a:schemeClr val="tx1"/>
                </a:solidFill>
                <a:latin typeface="Times New Roman" panose="02020603050405020304" pitchFamily="18" charset="0"/>
                <a:cs typeface="Times New Roman" panose="02020603050405020304" pitchFamily="18" charset="0"/>
              </a:rPr>
              <a:t>Batch no:C</a:t>
            </a:r>
            <a:r>
              <a:rPr lang="en-US" b="1" dirty="0">
                <a:solidFill>
                  <a:schemeClr val="tx1"/>
                </a:solidFill>
                <a:latin typeface="Times New Roman" panose="02020603050405020304" pitchFamily="18" charset="0"/>
                <a:cs typeface="Times New Roman" panose="02020603050405020304" pitchFamily="18" charset="0"/>
              </a:rPr>
              <a:t>10</a:t>
            </a:r>
          </a:p>
          <a:p>
            <a:pPr algn="l"/>
            <a:r>
              <a:rPr lang="en-US" b="1" dirty="0">
                <a:solidFill>
                  <a:schemeClr val="tx1"/>
                </a:solidFill>
                <a:latin typeface="Times New Roman" panose="02020603050405020304" pitchFamily="18" charset="0"/>
                <a:cs typeface="Times New Roman" panose="02020603050405020304" pitchFamily="18" charset="0"/>
              </a:rPr>
              <a:t>       </a:t>
            </a:r>
          </a:p>
          <a:p>
            <a:pPr algn="l"/>
            <a:r>
              <a:rPr lang="en-US" b="1" dirty="0">
                <a:solidFill>
                  <a:schemeClr val="tx1"/>
                </a:solidFill>
                <a:latin typeface="Times New Roman" panose="02020603050405020304" pitchFamily="18" charset="0"/>
                <a:cs typeface="Times New Roman" panose="02020603050405020304" pitchFamily="18" charset="0"/>
              </a:rPr>
              <a:t>        V .TEJA SATYA SRINIVAS        21NG1A04C6</a:t>
            </a:r>
          </a:p>
          <a:p>
            <a:pPr algn="l"/>
            <a:r>
              <a:rPr lang="en-US" b="1" dirty="0">
                <a:solidFill>
                  <a:schemeClr val="tx1"/>
                </a:solidFill>
                <a:latin typeface="Times New Roman" panose="02020603050405020304" pitchFamily="18" charset="0"/>
                <a:cs typeface="Times New Roman" panose="02020603050405020304" pitchFamily="18" charset="0"/>
              </a:rPr>
              <a:t>        R.MOHANVENKATADASU     21NG1A04E1</a:t>
            </a:r>
          </a:p>
          <a:p>
            <a:pPr algn="l"/>
            <a:r>
              <a:rPr lang="en-US" b="1" dirty="0">
                <a:solidFill>
                  <a:schemeClr val="tx1"/>
                </a:solidFill>
                <a:latin typeface="Times New Roman" panose="02020603050405020304" pitchFamily="18" charset="0"/>
                <a:cs typeface="Times New Roman" panose="02020603050405020304" pitchFamily="18" charset="0"/>
              </a:rPr>
              <a:t>        V.KAVITHA                                 22NG5A0431</a:t>
            </a:r>
          </a:p>
          <a:p>
            <a:pPr algn="l"/>
            <a:r>
              <a:rPr lang="en-US" b="1" dirty="0">
                <a:solidFill>
                  <a:schemeClr val="tx1"/>
                </a:solidFill>
                <a:latin typeface="Times New Roman" panose="02020603050405020304" pitchFamily="18" charset="0"/>
                <a:cs typeface="Times New Roman" panose="02020603050405020304" pitchFamily="18" charset="0"/>
              </a:rPr>
              <a:t>        M.DURGA MALLESWARI       21NG1A04C3</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      </a:t>
            </a:r>
          </a:p>
          <a:p>
            <a:r>
              <a:rPr lang="en-US" dirty="0">
                <a:solidFill>
                  <a:schemeClr val="tx1"/>
                </a:solidFill>
                <a:latin typeface="Times New Roman" panose="02020603050405020304" pitchFamily="18" charset="0"/>
                <a:cs typeface="Times New Roman" panose="02020603050405020304" pitchFamily="18" charset="0"/>
              </a:rPr>
              <a:t>  Under the Esteemed Guidance of</a:t>
            </a:r>
          </a:p>
          <a:p>
            <a:r>
              <a:rPr lang="en-US" b="1" dirty="0">
                <a:solidFill>
                  <a:schemeClr val="tx1"/>
                </a:solidFill>
                <a:latin typeface="Times New Roman" panose="02020603050405020304" pitchFamily="18" charset="0"/>
                <a:cs typeface="Times New Roman" panose="02020603050405020304" pitchFamily="18" charset="0"/>
              </a:rPr>
              <a:t>Mr.G.Rajesh babu M.Tech </a:t>
            </a:r>
            <a:endParaRPr lang="en-US"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      Assistant professor</a:t>
            </a:r>
          </a:p>
          <a:p>
            <a:r>
              <a:rPr lang="en-US" dirty="0">
                <a:solidFill>
                  <a:schemeClr val="tx1"/>
                </a:solidFill>
                <a:latin typeface="Times New Roman" panose="02020603050405020304" pitchFamily="18" charset="0"/>
                <a:cs typeface="Times New Roman" panose="02020603050405020304" pitchFamily="18" charset="0"/>
                <a:sym typeface="+mn-ea"/>
              </a:rPr>
              <a:t>DEPARTMENT OF ELECTRONICS &amp; COMMUNICATION ENGINEERING</a:t>
            </a:r>
            <a:endParaRPr lang="en-US" b="1" dirty="0">
              <a:solidFill>
                <a:schemeClr val="tx1"/>
              </a:solidFill>
              <a:latin typeface="Times New Roman" panose="02020603050405020304" pitchFamily="18" charset="0"/>
              <a:cs typeface="Times New Roman" panose="02020603050405020304" pitchFamily="18" charset="0"/>
            </a:endParaRPr>
          </a:p>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0" y="5494655"/>
            <a:ext cx="9190355" cy="1376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981200"/>
          </a:xfrm>
        </p:spPr>
        <p:txBody>
          <a:bodyPr>
            <a:normAutofit/>
          </a:bodyPr>
          <a:lstStyle/>
          <a:p>
            <a:r>
              <a:rPr lang="en-US" sz="3600" b="1"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228600" y="762000"/>
            <a:ext cx="8458200" cy="6096000"/>
          </a:xfrm>
        </p:spPr>
        <p:txBody>
          <a:bodyPr>
            <a:normAutofit fontScale="92500" lnSpcReduction="20000"/>
          </a:bodyPr>
          <a:lstStyle/>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ABSTRACT</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INTRODUCTION</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LITERATURE SURVEY</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EXISTING SYSTEM</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EXISTING SYSTEM BLOCK DIAGRAM</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EXISTING SYSTEM DRAWBACKS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PROPOSED SYSTEM NECESSITY(Problem Identification)</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sym typeface="+mn-ea"/>
              </a:rPr>
              <a:t>PROPOSED SYSTEM BLOCK DIAGRAM</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sym typeface="+mn-ea"/>
              </a:rPr>
              <a:t>9.   PROPOSED SYSTEM EXPLANATION</a:t>
            </a:r>
          </a:p>
          <a:p>
            <a:pPr marL="0" indent="0">
              <a:buNone/>
            </a:pPr>
            <a:r>
              <a:rPr lang="en-US" sz="2400" dirty="0">
                <a:latin typeface="Times New Roman" panose="02020603050405020304" pitchFamily="18" charset="0"/>
                <a:cs typeface="Times New Roman" panose="02020603050405020304" pitchFamily="18" charset="0"/>
                <a:sym typeface="+mn-ea"/>
              </a:rPr>
              <a:t>10. PROJECT REQUIREMENTS</a:t>
            </a:r>
          </a:p>
          <a:p>
            <a:pPr marL="0" indent="0">
              <a:buNone/>
            </a:pPr>
            <a:r>
              <a:rPr lang="en-US" sz="2400" dirty="0">
                <a:latin typeface="Times New Roman" panose="02020603050405020304" pitchFamily="18" charset="0"/>
                <a:cs typeface="Times New Roman" panose="02020603050405020304" pitchFamily="18" charset="0"/>
                <a:sym typeface="+mn-ea"/>
              </a:rPr>
              <a:t>           a)HARDWARE</a:t>
            </a:r>
          </a:p>
          <a:p>
            <a:pPr marL="0" indent="0">
              <a:buNone/>
            </a:pPr>
            <a:r>
              <a:rPr lang="en-US" sz="2400" dirty="0">
                <a:latin typeface="Times New Roman" panose="02020603050405020304" pitchFamily="18" charset="0"/>
                <a:cs typeface="Times New Roman" panose="02020603050405020304" pitchFamily="18" charset="0"/>
                <a:sym typeface="+mn-ea"/>
              </a:rPr>
              <a:t>            b)SOFTWARE</a:t>
            </a:r>
          </a:p>
          <a:p>
            <a:pPr marL="0" indent="0">
              <a:buNone/>
            </a:pPr>
            <a:r>
              <a:rPr lang="en-US" sz="2400" dirty="0">
                <a:latin typeface="Times New Roman" panose="02020603050405020304" pitchFamily="18" charset="0"/>
                <a:cs typeface="Times New Roman" panose="02020603050405020304" pitchFamily="18" charset="0"/>
                <a:sym typeface="+mn-ea"/>
              </a:rPr>
              <a:t>11. RESULTS AND ITS ANALYSIS</a:t>
            </a:r>
          </a:p>
          <a:p>
            <a:pPr marL="0" indent="0">
              <a:buNone/>
            </a:pPr>
            <a:r>
              <a:rPr lang="en-US" sz="2400" dirty="0">
                <a:latin typeface="Times New Roman" panose="02020603050405020304" pitchFamily="18" charset="0"/>
                <a:cs typeface="Times New Roman" panose="02020603050405020304" pitchFamily="18" charset="0"/>
                <a:sym typeface="+mn-ea"/>
              </a:rPr>
              <a:t>12. ADVANTAGES</a:t>
            </a:r>
          </a:p>
          <a:p>
            <a:pPr marL="0" indent="0">
              <a:buNone/>
            </a:pPr>
            <a:r>
              <a:rPr lang="en-US" sz="2400" dirty="0">
                <a:latin typeface="Times New Roman" panose="02020603050405020304" pitchFamily="18" charset="0"/>
                <a:cs typeface="Times New Roman" panose="02020603050405020304" pitchFamily="18" charset="0"/>
              </a:rPr>
              <a:t>13. APPLICATIONS</a:t>
            </a:r>
          </a:p>
          <a:p>
            <a:pPr marL="457200" indent="-457200">
              <a:buNone/>
            </a:pPr>
            <a:r>
              <a:rPr lang="en-US" sz="2400" dirty="0">
                <a:latin typeface="Times New Roman" panose="02020603050405020304" pitchFamily="18" charset="0"/>
                <a:cs typeface="Times New Roman" panose="02020603050405020304" pitchFamily="18" charset="0"/>
                <a:sym typeface="+mn-ea"/>
              </a:rPr>
              <a:t>14. CONCLUSIONS</a:t>
            </a:r>
          </a:p>
          <a:p>
            <a:pPr marL="457200" indent="-457200">
              <a:buNone/>
            </a:pPr>
            <a:r>
              <a:rPr lang="en-US" sz="2400" dirty="0">
                <a:latin typeface="Times New Roman" panose="02020603050405020304" pitchFamily="18" charset="0"/>
                <a:cs typeface="Times New Roman" panose="02020603050405020304" pitchFamily="18" charset="0"/>
                <a:sym typeface="+mn-ea"/>
              </a:rPr>
              <a:t>15. REFERENCES</a:t>
            </a:r>
            <a:endParaRPr lang="en-US" sz="2400" dirty="0">
              <a:latin typeface="Times New Roman" panose="02020603050405020304" pitchFamily="18" charset="0"/>
              <a:cs typeface="Times New Roman" panose="02020603050405020304" pitchFamily="18" charset="0"/>
            </a:endParaRPr>
          </a:p>
          <a:p>
            <a:pPr marL="457200" indent="-457200">
              <a:buNone/>
            </a:pPr>
            <a:endParaRPr lang="en-US" sz="2400" dirty="0">
              <a:latin typeface="Times New Roman" panose="02020603050405020304" pitchFamily="18"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2665314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7015"/>
            <a:ext cx="8229600" cy="1161415"/>
          </a:xfrm>
        </p:spPr>
        <p:txBody>
          <a:bodyPr>
            <a:normAutofit/>
          </a:bodyPr>
          <a:lstStyle/>
          <a:p>
            <a:pPr algn="ctr"/>
            <a:r>
              <a:rPr lang="en-GB" altLang="en-US" sz="3200" b="1" dirty="0">
                <a:latin typeface="Times New Roman" panose="02020603050405020304" pitchFamily="18" charset="0"/>
                <a:cs typeface="Times New Roman" panose="02020603050405020304" pitchFamily="18" charset="0"/>
              </a:rPr>
              <a:t>1.</a:t>
            </a:r>
            <a:r>
              <a:rPr lang="en-US" sz="32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163195" y="845820"/>
            <a:ext cx="8709025" cy="5351145"/>
          </a:xfrm>
        </p:spPr>
        <p:txBody>
          <a:bodyPr>
            <a:noAutofit/>
          </a:bodyPr>
          <a:lstStyle/>
          <a:p>
            <a:pPr algn="just">
              <a:lnSpc>
                <a:spcPct val="100000"/>
              </a:lnSpc>
            </a:pPr>
            <a:r>
              <a:rPr lang="en-US" sz="2400" dirty="0">
                <a:latin typeface="Times New Roman" panose="02020603050405020304" pitchFamily="18" charset="0"/>
                <a:cs typeface="Times New Roman" panose="02020603050405020304" pitchFamily="18" charset="0"/>
              </a:rPr>
              <a:t>The advancement in the internet of things (IoT) technologies has made it possible to control and monitor electronic devices at home with just the touch of a button.</a:t>
            </a:r>
          </a:p>
          <a:p>
            <a:pPr algn="just">
              <a:lnSpc>
                <a:spcPct val="100000"/>
              </a:lnSpc>
            </a:pPr>
            <a:r>
              <a:rPr lang="en-US" sz="2400" dirty="0">
                <a:latin typeface="Times New Roman" panose="02020603050405020304" pitchFamily="18" charset="0"/>
                <a:cs typeface="Times New Roman" panose="02020603050405020304" pitchFamily="18" charset="0"/>
              </a:rPr>
              <a:t>Elderly people and those with disabilities have especially benefited from voice-assisted home automation systems that allow them to control their devices with simple voice commands.</a:t>
            </a:r>
          </a:p>
          <a:p>
            <a:pPr algn="just">
              <a:lnSpc>
                <a:spcPct val="100000"/>
              </a:lnSpc>
            </a:pPr>
            <a:r>
              <a:rPr lang="en-US" sz="2400" dirty="0">
                <a:latin typeface="Times New Roman" panose="02020603050405020304" pitchFamily="18" charset="0"/>
                <a:cs typeface="Times New Roman" panose="02020603050405020304" pitchFamily="18" charset="0"/>
              </a:rPr>
              <a:t>However, the widespread use of cloud-based services in these systems, such as those offered by Google and Amazon, has made them vulnerable to cyber-attacks.</a:t>
            </a:r>
          </a:p>
          <a:p>
            <a:pPr algn="just">
              <a:lnSpc>
                <a:spcPct val="100000"/>
              </a:lnSpc>
            </a:pPr>
            <a:r>
              <a:rPr lang="en-US" sz="2400" dirty="0">
                <a:latin typeface="Times New Roman" panose="02020603050405020304" pitchFamily="18" charset="0"/>
                <a:cs typeface="Times New Roman" panose="02020603050405020304" pitchFamily="18" charset="0"/>
              </a:rPr>
              <a:t>To ensure the proper functioning of these systems, a stable internet connection and a secure environment free from cyber-attacks are required.</a:t>
            </a:r>
          </a:p>
          <a:p>
            <a:pPr algn="just">
              <a:lnSpc>
                <a:spcPct val="100000"/>
              </a:lnSpc>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35"/>
            <a:ext cx="8229600" cy="763270"/>
          </a:xfrm>
        </p:spPr>
        <p:txBody>
          <a:bodyPr/>
          <a:lstStyle/>
          <a:p>
            <a:r>
              <a:rPr lang="en-US" b="1" dirty="0">
                <a:latin typeface="Times New Roman" panose="02020603050405020304" pitchFamily="18" charset="0"/>
                <a:cs typeface="Times New Roman" panose="02020603050405020304" pitchFamily="18" charset="0"/>
                <a:sym typeface="+mn-ea"/>
              </a:rPr>
              <a:t>2.INTRODUCTION</a:t>
            </a:r>
            <a:endParaRPr lang="en-GB" altLang="en-US"/>
          </a:p>
        </p:txBody>
      </p:sp>
      <p:sp>
        <p:nvSpPr>
          <p:cNvPr id="3" name="Content Placeholder 2"/>
          <p:cNvSpPr>
            <a:spLocks noGrp="1"/>
          </p:cNvSpPr>
          <p:nvPr>
            <p:ph idx="1"/>
          </p:nvPr>
        </p:nvSpPr>
        <p:spPr>
          <a:xfrm>
            <a:off x="19685" y="912495"/>
            <a:ext cx="9168130" cy="5856605"/>
          </a:xfrm>
        </p:spPr>
        <p:txBody>
          <a:bodyPr>
            <a:normAutofit lnSpcReduction="10000"/>
          </a:bodyPr>
          <a:lstStyle/>
          <a:p>
            <a:pPr marL="0" indent="0" algn="just">
              <a:buNone/>
            </a:pPr>
            <a:r>
              <a:rPr lang="en-US" altLang="en-GB" sz="2220" b="1" dirty="0">
                <a:latin typeface="Times New Roman" panose="02020603050405020304" pitchFamily="18" charset="0"/>
                <a:cs typeface="Times New Roman" panose="02020603050405020304" pitchFamily="18" charset="0"/>
              </a:rPr>
              <a:t>Significance of Home Automation Systems</a:t>
            </a:r>
          </a:p>
          <a:p>
            <a:pPr marL="0" indent="0" algn="just">
              <a:buNone/>
            </a:pPr>
            <a:r>
              <a:rPr lang="en-US" altLang="en-GB" sz="2220" dirty="0">
                <a:latin typeface="Times New Roman" panose="02020603050405020304" pitchFamily="18" charset="0"/>
                <a:cs typeface="Times New Roman" panose="02020603050405020304" pitchFamily="18" charset="0"/>
              </a:rPr>
              <a:t>Home automation systems have become essential in modern living, offering a seamless interface for controlling home appliances and enhancing quality of life. These systems provide convenience, improve security, and contribute to energy efficiency by automating everyday tasks and monitoring energy usage.</a:t>
            </a:r>
          </a:p>
          <a:p>
            <a:pPr marL="0" indent="0" algn="just">
              <a:buNone/>
            </a:pPr>
            <a:endParaRPr lang="en-US" altLang="en-GB" sz="2220" b="1" dirty="0">
              <a:latin typeface="Times New Roman" panose="02020603050405020304" pitchFamily="18" charset="0"/>
              <a:cs typeface="Times New Roman" panose="02020603050405020304" pitchFamily="18" charset="0"/>
            </a:endParaRPr>
          </a:p>
          <a:p>
            <a:pPr marL="0" indent="0" algn="just">
              <a:buNone/>
            </a:pPr>
            <a:r>
              <a:rPr lang="en-US" altLang="en-GB" sz="2220" b="1" dirty="0">
                <a:latin typeface="Times New Roman" panose="02020603050405020304" pitchFamily="18" charset="0"/>
                <a:cs typeface="Times New Roman" panose="02020603050405020304" pitchFamily="18" charset="0"/>
              </a:rPr>
              <a:t>Objective of the Home Automation </a:t>
            </a:r>
          </a:p>
          <a:p>
            <a:pPr marL="0" indent="0" algn="just">
              <a:buNone/>
            </a:pPr>
            <a:r>
              <a:rPr lang="en-US" altLang="en-GB" sz="2220" dirty="0">
                <a:latin typeface="Times New Roman" panose="02020603050405020304" pitchFamily="18" charset="0"/>
                <a:cs typeface="Times New Roman" panose="02020603050405020304" pitchFamily="18" charset="0"/>
              </a:rPr>
              <a:t>The main objective of home automation is to enhance convenience, security, energy efficiency, and accessibility of home appliances.</a:t>
            </a:r>
          </a:p>
          <a:p>
            <a:pPr marL="0" indent="0" algn="just">
              <a:buNone/>
            </a:pPr>
            <a:r>
              <a:rPr lang="en-GB" altLang="en-US" sz="2220" b="1" dirty="0">
                <a:latin typeface="Times New Roman" panose="02020603050405020304" pitchFamily="18" charset="0"/>
                <a:cs typeface="Times New Roman" panose="02020603050405020304" pitchFamily="18" charset="0"/>
              </a:rPr>
              <a:t>A</a:t>
            </a:r>
            <a:r>
              <a:rPr lang="en-US" altLang="en-GB" sz="2220" b="1" dirty="0" err="1">
                <a:latin typeface="Times New Roman" panose="02020603050405020304" pitchFamily="18" charset="0"/>
                <a:cs typeface="Times New Roman" panose="02020603050405020304" pitchFamily="18" charset="0"/>
              </a:rPr>
              <a:t>ppliances</a:t>
            </a:r>
            <a:r>
              <a:rPr lang="en-US" altLang="en-GB" sz="2220" b="1" dirty="0">
                <a:latin typeface="Times New Roman" panose="02020603050405020304" pitchFamily="18" charset="0"/>
                <a:cs typeface="Times New Roman" panose="02020603050405020304" pitchFamily="18" charset="0"/>
              </a:rPr>
              <a:t> through voice commands</a:t>
            </a:r>
            <a:r>
              <a:rPr lang="en-US" altLang="en-GB" b="1" dirty="0">
                <a:latin typeface="Times New Roman" panose="02020603050405020304" pitchFamily="18" charset="0"/>
                <a:cs typeface="Times New Roman" panose="02020603050405020304" pitchFamily="18" charset="0"/>
              </a:rPr>
              <a:t>.</a:t>
            </a:r>
            <a:endParaRPr lang="en-US" altLang="en-GB" dirty="0"/>
          </a:p>
          <a:p>
            <a:pPr marL="0" indent="0" algn="just">
              <a:buNone/>
            </a:pPr>
            <a:r>
              <a:rPr lang="en-US" altLang="en-GB" sz="2400" dirty="0">
                <a:latin typeface="Times New Roman" panose="02020603050405020304" pitchFamily="18" charset="0"/>
                <a:cs typeface="Times New Roman" panose="02020603050405020304" pitchFamily="18" charset="0"/>
              </a:rPr>
              <a:t>Voice-controlled home automation allows users to operate household appliances using voice assistants like Amazon Alexa, Google Assistant, and Apple Siri.</a:t>
            </a:r>
            <a:endParaRPr lang="en-US" altLang="en-GB" sz="2000" dirty="0">
              <a:latin typeface="Times New Roman" panose="02020603050405020304" pitchFamily="18" charset="0"/>
              <a:cs typeface="Times New Roman" panose="02020603050405020304" pitchFamily="18" charset="0"/>
            </a:endParaRPr>
          </a:p>
          <a:p>
            <a:pPr marL="0" indent="0" algn="just">
              <a:buNone/>
            </a:pPr>
            <a:r>
              <a:rPr lang="en-US" altLang="en-GB" sz="2400" b="1" dirty="0">
                <a:latin typeface="Times New Roman" panose="02020603050405020304" pitchFamily="18" charset="0"/>
                <a:cs typeface="Times New Roman" panose="02020603050405020304" pitchFamily="18" charset="0"/>
              </a:rPr>
              <a:t>Enhance Security</a:t>
            </a:r>
            <a:r>
              <a:rPr lang="en-US" altLang="en-GB" sz="2000" dirty="0">
                <a:latin typeface="Times New Roman" panose="02020603050405020304" pitchFamily="18" charset="0"/>
                <a:cs typeface="Times New Roman" panose="02020603050405020304" pitchFamily="18" charset="0"/>
              </a:rPr>
              <a:t>: </a:t>
            </a:r>
            <a:r>
              <a:rPr lang="en-US" altLang="en-GB" sz="2400" dirty="0">
                <a:latin typeface="Times New Roman" panose="02020603050405020304" pitchFamily="18" charset="0"/>
                <a:cs typeface="Times New Roman" panose="02020603050405020304" pitchFamily="18" charset="0"/>
              </a:rPr>
              <a:t>Enhancing security in home automation involves protecting both the physical and digital aspects of your smart home.</a:t>
            </a:r>
            <a:endParaRPr lang="en-US" altLang="en-GB" dirty="0"/>
          </a:p>
          <a:p>
            <a:pPr marL="0" indent="0" algn="just">
              <a:buNone/>
            </a:pPr>
            <a:endParaRPr lang="en-US" altLang="en-GB" dirty="0"/>
          </a:p>
          <a:p>
            <a:pPr marL="0" indent="0" algn="just">
              <a:buNone/>
            </a:pPr>
            <a:endParaRPr lang="en-US" altLang="en-GB" dirty="0"/>
          </a:p>
          <a:p>
            <a:pPr marL="0" indent="0" algn="just">
              <a:buNone/>
            </a:pPr>
            <a:endParaRPr lang="en-US" altLang="en-GB" dirty="0"/>
          </a:p>
          <a:p>
            <a:pPr algn="just"/>
            <a:endParaRPr lang="en-US" altLang="en-GB" sz="7200" dirty="0"/>
          </a:p>
          <a:p>
            <a:pPr algn="just"/>
            <a:endParaRPr lang="en-US" altLang="en-GB" sz="7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777875"/>
          </a:xfrm>
        </p:spPr>
        <p:txBody>
          <a:bodyPr>
            <a:normAutofit fontScale="90000"/>
          </a:bodyPr>
          <a:lstStyle/>
          <a:p>
            <a:r>
              <a:rPr lang="en-IN" dirty="0">
                <a:latin typeface="Times New Roman" panose="02020603050405020304" pitchFamily="18" charset="0"/>
                <a:cs typeface="Times New Roman" panose="02020603050405020304" pitchFamily="18" charset="0"/>
                <a:sym typeface="+mn-ea"/>
              </a:rPr>
              <a:t> </a:t>
            </a:r>
            <a:r>
              <a:rPr lang="en-IN" b="1" dirty="0">
                <a:latin typeface="Times New Roman" panose="02020603050405020304" pitchFamily="18" charset="0"/>
                <a:cs typeface="Times New Roman" panose="02020603050405020304" pitchFamily="18" charset="0"/>
                <a:sym typeface="+mn-ea"/>
              </a:rPr>
              <a:t>3.LITERATURE SURVEY</a:t>
            </a:r>
            <a:br>
              <a:rPr lang="en-IN" dirty="0">
                <a:latin typeface="Times New Roman" panose="02020603050405020304" pitchFamily="18" charset="0"/>
                <a:cs typeface="Times New Roman" panose="02020603050405020304" pitchFamily="18" charset="0"/>
                <a:sym typeface="+mn-ea"/>
              </a:rPr>
            </a:br>
            <a:endParaRPr lang="en-GB" altLang="en-US"/>
          </a:p>
        </p:txBody>
      </p:sp>
      <p:sp>
        <p:nvSpPr>
          <p:cNvPr id="3" name="Content Placeholder 2"/>
          <p:cNvSpPr>
            <a:spLocks noGrp="1"/>
          </p:cNvSpPr>
          <p:nvPr>
            <p:ph idx="1"/>
          </p:nvPr>
        </p:nvSpPr>
        <p:spPr>
          <a:xfrm>
            <a:off x="82550" y="663892"/>
            <a:ext cx="9061450" cy="6251575"/>
          </a:xfrm>
        </p:spPr>
        <p:txBody>
          <a:bodyPr>
            <a:normAutofit fontScale="97500"/>
          </a:bodyPr>
          <a:lstStyle/>
          <a:p>
            <a:pPr marL="0" indent="0">
              <a:buNone/>
            </a:pPr>
            <a:r>
              <a:rPr lang="en-GB" altLang="en-US" sz="2100" b="1" dirty="0">
                <a:latin typeface="Times New Roman" panose="02020603050405020304" pitchFamily="18" charset="0"/>
                <a:cs typeface="Times New Roman" panose="02020603050405020304" pitchFamily="18" charset="0"/>
              </a:rPr>
              <a:t>1.</a:t>
            </a:r>
            <a:r>
              <a:rPr lang="en-US" altLang="en-GB" sz="2100" b="1" dirty="0">
                <a:latin typeface="Times New Roman" panose="02020603050405020304" pitchFamily="18" charset="0"/>
                <a:cs typeface="Times New Roman" panose="02020603050405020304" pitchFamily="18" charset="0"/>
              </a:rPr>
              <a:t>Title</a:t>
            </a:r>
            <a:r>
              <a:rPr lang="en-US" altLang="en-GB" sz="2100" dirty="0">
                <a:latin typeface="Times New Roman" panose="02020603050405020304" pitchFamily="18" charset="0"/>
                <a:cs typeface="Times New Roman" panose="02020603050405020304" pitchFamily="18" charset="0"/>
              </a:rPr>
              <a:t>: Hardware Security Threats Against Bluetooth Mesh Networks</a:t>
            </a:r>
          </a:p>
          <a:p>
            <a:pPr marL="0" indent="0">
              <a:buNone/>
            </a:pPr>
            <a:r>
              <a:rPr lang="en-US" altLang="en-GB" sz="2100" b="1" dirty="0">
                <a:latin typeface="Times New Roman" panose="02020603050405020304" pitchFamily="18" charset="0"/>
                <a:cs typeface="Times New Roman" panose="02020603050405020304" pitchFamily="18" charset="0"/>
              </a:rPr>
              <a:t>Author</a:t>
            </a:r>
            <a:r>
              <a:rPr lang="en-US" altLang="en-GB" sz="2100" dirty="0">
                <a:latin typeface="Times New Roman" panose="02020603050405020304" pitchFamily="18" charset="0"/>
                <a:cs typeface="Times New Roman" panose="02020603050405020304" pitchFamily="18" charset="0"/>
              </a:rPr>
              <a:t>: Alexandre </a:t>
            </a:r>
            <a:r>
              <a:rPr lang="en-US" altLang="en-GB" sz="2100" dirty="0" err="1">
                <a:latin typeface="Times New Roman" panose="02020603050405020304" pitchFamily="18" charset="0"/>
                <a:cs typeface="Times New Roman" panose="02020603050405020304" pitchFamily="18" charset="0"/>
              </a:rPr>
              <a:t>Adomnicai,Jacques</a:t>
            </a:r>
            <a:r>
              <a:rPr lang="en-US" altLang="en-GB" sz="2100" dirty="0">
                <a:latin typeface="Times New Roman" panose="02020603050405020304" pitchFamily="18" charset="0"/>
                <a:cs typeface="Times New Roman" panose="02020603050405020304" pitchFamily="18" charset="0"/>
              </a:rPr>
              <a:t> J. A. </a:t>
            </a:r>
            <a:r>
              <a:rPr lang="en-US" altLang="en-GB" sz="2100" dirty="0" err="1">
                <a:latin typeface="Times New Roman" panose="02020603050405020304" pitchFamily="18" charset="0"/>
                <a:cs typeface="Times New Roman" panose="02020603050405020304" pitchFamily="18" charset="0"/>
              </a:rPr>
              <a:t>Fournier,Laurent</a:t>
            </a:r>
            <a:r>
              <a:rPr lang="en-US" altLang="en-GB" sz="2100" dirty="0">
                <a:latin typeface="Times New Roman" panose="02020603050405020304" pitchFamily="18" charset="0"/>
                <a:cs typeface="Times New Roman" panose="02020603050405020304" pitchFamily="18" charset="0"/>
              </a:rPr>
              <a:t> Masson</a:t>
            </a:r>
          </a:p>
          <a:p>
            <a:pPr marL="0" indent="0">
              <a:buNone/>
            </a:pPr>
            <a:r>
              <a:rPr lang="en-US" altLang="en-GB" sz="2100" b="1" dirty="0">
                <a:latin typeface="Times New Roman" panose="02020603050405020304" pitchFamily="18" charset="0"/>
                <a:cs typeface="Times New Roman" panose="02020603050405020304" pitchFamily="18" charset="0"/>
              </a:rPr>
              <a:t>Techniques</a:t>
            </a:r>
            <a:r>
              <a:rPr lang="en-US" altLang="en-GB" sz="2100" dirty="0">
                <a:latin typeface="Times New Roman" panose="02020603050405020304" pitchFamily="18" charset="0"/>
                <a:cs typeface="Times New Roman" panose="02020603050405020304" pitchFamily="18" charset="0"/>
              </a:rPr>
              <a:t>: Side-Channel Attacks (SCAs),Fault Injection </a:t>
            </a:r>
            <a:r>
              <a:rPr lang="en-US" altLang="en-GB" sz="2100" dirty="0" err="1">
                <a:latin typeface="Times New Roman" panose="02020603050405020304" pitchFamily="18" charset="0"/>
                <a:cs typeface="Times New Roman" panose="02020603050405020304" pitchFamily="18" charset="0"/>
              </a:rPr>
              <a:t>Attacks,Firmware</a:t>
            </a:r>
            <a:r>
              <a:rPr lang="en-US" altLang="en-GB" sz="2100" dirty="0">
                <a:latin typeface="Times New Roman" panose="02020603050405020304" pitchFamily="18" charset="0"/>
                <a:cs typeface="Times New Roman" panose="02020603050405020304" pitchFamily="18" charset="0"/>
              </a:rPr>
              <a:t> Manipulation</a:t>
            </a:r>
          </a:p>
          <a:p>
            <a:pPr marL="0" indent="0">
              <a:buNone/>
            </a:pPr>
            <a:r>
              <a:rPr lang="en-US" altLang="en-GB" sz="2100" b="1" dirty="0">
                <a:latin typeface="Times New Roman" panose="02020603050405020304" pitchFamily="18" charset="0"/>
                <a:cs typeface="Times New Roman" panose="02020603050405020304" pitchFamily="18" charset="0"/>
              </a:rPr>
              <a:t>Parameters</a:t>
            </a:r>
            <a:r>
              <a:rPr lang="en-US" altLang="en-GB" sz="2100" dirty="0">
                <a:latin typeface="Times New Roman" panose="02020603050405020304" pitchFamily="18" charset="0"/>
                <a:cs typeface="Times New Roman" panose="02020603050405020304" pitchFamily="18" charset="0"/>
              </a:rPr>
              <a:t>: Device Identification and </a:t>
            </a:r>
            <a:r>
              <a:rPr lang="en-US" altLang="en-GB" sz="2100" dirty="0" err="1">
                <a:latin typeface="Times New Roman" panose="02020603050405020304" pitchFamily="18" charset="0"/>
                <a:cs typeface="Times New Roman" panose="02020603050405020304" pitchFamily="18" charset="0"/>
              </a:rPr>
              <a:t>Authentication,Key</a:t>
            </a:r>
            <a:r>
              <a:rPr lang="en-US" altLang="en-GB" sz="2100" dirty="0">
                <a:latin typeface="Times New Roman" panose="02020603050405020304" pitchFamily="18" charset="0"/>
                <a:cs typeface="Times New Roman" panose="02020603050405020304" pitchFamily="18" charset="0"/>
              </a:rPr>
              <a:t> Management</a:t>
            </a:r>
          </a:p>
          <a:p>
            <a:pPr marL="0" indent="0">
              <a:buNone/>
            </a:pPr>
            <a:r>
              <a:rPr lang="en-US" altLang="en-GB" sz="2100" b="1" dirty="0">
                <a:latin typeface="Times New Roman" panose="02020603050405020304" pitchFamily="18" charset="0"/>
                <a:cs typeface="Times New Roman" panose="02020603050405020304" pitchFamily="18" charset="0"/>
              </a:rPr>
              <a:t>Drawbacks</a:t>
            </a:r>
            <a:r>
              <a:rPr lang="en-US" altLang="en-GB" sz="2100" dirty="0">
                <a:latin typeface="Times New Roman" panose="02020603050405020304" pitchFamily="18" charset="0"/>
                <a:cs typeface="Times New Roman" panose="02020603050405020304" pitchFamily="18" charset="0"/>
              </a:rPr>
              <a:t>: Physical Access </a:t>
            </a:r>
            <a:r>
              <a:rPr lang="en-US" altLang="en-GB" sz="2100" dirty="0" err="1">
                <a:latin typeface="Times New Roman" panose="02020603050405020304" pitchFamily="18" charset="0"/>
                <a:cs typeface="Times New Roman" panose="02020603050405020304" pitchFamily="18" charset="0"/>
              </a:rPr>
              <a:t>Vulnerability,Device</a:t>
            </a:r>
            <a:r>
              <a:rPr lang="en-US" altLang="en-GB" sz="2100" dirty="0">
                <a:latin typeface="Times New Roman" panose="02020603050405020304" pitchFamily="18" charset="0"/>
                <a:cs typeface="Times New Roman" panose="02020603050405020304" pitchFamily="18" charset="0"/>
              </a:rPr>
              <a:t> </a:t>
            </a:r>
            <a:r>
              <a:rPr lang="en-US" altLang="en-GB" sz="2100" dirty="0" err="1">
                <a:latin typeface="Times New Roman" panose="02020603050405020304" pitchFamily="18" charset="0"/>
                <a:cs typeface="Times New Roman" panose="02020603050405020304" pitchFamily="18" charset="0"/>
              </a:rPr>
              <a:t>Cloning,Hardware</a:t>
            </a:r>
            <a:r>
              <a:rPr lang="en-US" altLang="en-GB" sz="2100" dirty="0">
                <a:latin typeface="Times New Roman" panose="02020603050405020304" pitchFamily="18" charset="0"/>
                <a:cs typeface="Times New Roman" panose="02020603050405020304" pitchFamily="18" charset="0"/>
              </a:rPr>
              <a:t> Trojans</a:t>
            </a:r>
          </a:p>
          <a:p>
            <a:pPr marL="0" indent="0">
              <a:buNone/>
            </a:pPr>
            <a:r>
              <a:rPr lang="en-US" altLang="en-GB" sz="2100" b="1" dirty="0">
                <a:latin typeface="Times New Roman" panose="02020603050405020304" pitchFamily="18" charset="0"/>
                <a:cs typeface="Times New Roman" panose="02020603050405020304" pitchFamily="18" charset="0"/>
              </a:rPr>
              <a:t>Year: 2018</a:t>
            </a:r>
            <a:endParaRPr lang="en-US" altLang="en-GB" sz="2100" dirty="0">
              <a:latin typeface="Times New Roman" panose="02020603050405020304" pitchFamily="18" charset="0"/>
              <a:cs typeface="Times New Roman" panose="02020603050405020304" pitchFamily="18" charset="0"/>
            </a:endParaRPr>
          </a:p>
          <a:p>
            <a:endParaRPr lang="en-US" altLang="en-GB" sz="2000" dirty="0">
              <a:latin typeface="Times New Roman" panose="02020603050405020304" pitchFamily="18" charset="0"/>
              <a:cs typeface="Times New Roman" panose="02020603050405020304" pitchFamily="18" charset="0"/>
            </a:endParaRPr>
          </a:p>
          <a:p>
            <a:pPr marL="0" indent="0">
              <a:buNone/>
            </a:pPr>
            <a:r>
              <a:rPr lang="en-GB" altLang="en-US" sz="2100" b="1" dirty="0">
                <a:latin typeface="Times New Roman" panose="02020603050405020304" pitchFamily="18" charset="0"/>
                <a:cs typeface="Times New Roman" panose="02020603050405020304" pitchFamily="18" charset="0"/>
              </a:rPr>
              <a:t>2.</a:t>
            </a:r>
            <a:r>
              <a:rPr lang="en-US" altLang="en-GB" sz="2100" b="1" dirty="0">
                <a:latin typeface="Times New Roman" panose="02020603050405020304" pitchFamily="18" charset="0"/>
                <a:cs typeface="Times New Roman" panose="02020603050405020304" pitchFamily="18" charset="0"/>
              </a:rPr>
              <a:t>Title</a:t>
            </a:r>
            <a:r>
              <a:rPr lang="en-US" altLang="en-GB" sz="2100" dirty="0">
                <a:latin typeface="Times New Roman" panose="02020603050405020304" pitchFamily="18" charset="0"/>
                <a:cs typeface="Times New Roman" panose="02020603050405020304" pitchFamily="18" charset="0"/>
              </a:rPr>
              <a:t>: Voice controlled home automation system using Natural Language Processing (NLP) and Internet of Things (IoT)</a:t>
            </a:r>
          </a:p>
          <a:p>
            <a:pPr marL="0" indent="0">
              <a:buNone/>
            </a:pPr>
            <a:r>
              <a:rPr lang="en-US" altLang="en-GB" sz="2100" b="1" dirty="0">
                <a:latin typeface="Times New Roman" panose="02020603050405020304" pitchFamily="18" charset="0"/>
                <a:cs typeface="Times New Roman" panose="02020603050405020304" pitchFamily="18" charset="0"/>
              </a:rPr>
              <a:t>Author</a:t>
            </a:r>
            <a:r>
              <a:rPr lang="en-US" altLang="en-GB" sz="2100" dirty="0">
                <a:latin typeface="Times New Roman" panose="02020603050405020304" pitchFamily="18" charset="0"/>
                <a:cs typeface="Times New Roman" panose="02020603050405020304" pitchFamily="18" charset="0"/>
              </a:rPr>
              <a:t>: Paul Jasmin Rani; Jason </a:t>
            </a:r>
            <a:r>
              <a:rPr lang="en-US" altLang="en-GB" sz="2100" dirty="0" err="1">
                <a:latin typeface="Times New Roman" panose="02020603050405020304" pitchFamily="18" charset="0"/>
                <a:cs typeface="Times New Roman" panose="02020603050405020304" pitchFamily="18" charset="0"/>
              </a:rPr>
              <a:t>Bakthakumar</a:t>
            </a:r>
            <a:r>
              <a:rPr lang="en-US" altLang="en-GB" sz="2100" dirty="0">
                <a:latin typeface="Times New Roman" panose="02020603050405020304" pitchFamily="18" charset="0"/>
                <a:cs typeface="Times New Roman" panose="02020603050405020304" pitchFamily="18" charset="0"/>
              </a:rPr>
              <a:t>; B. Praveen </a:t>
            </a:r>
            <a:r>
              <a:rPr lang="en-US" altLang="en-GB" sz="2100" dirty="0" err="1">
                <a:latin typeface="Times New Roman" panose="02020603050405020304" pitchFamily="18" charset="0"/>
                <a:cs typeface="Times New Roman" panose="02020603050405020304" pitchFamily="18" charset="0"/>
              </a:rPr>
              <a:t>Kumaar</a:t>
            </a:r>
            <a:r>
              <a:rPr lang="en-US" altLang="en-GB" sz="2100" dirty="0">
                <a:latin typeface="Times New Roman" panose="02020603050405020304" pitchFamily="18" charset="0"/>
                <a:cs typeface="Times New Roman" panose="02020603050405020304" pitchFamily="18" charset="0"/>
              </a:rPr>
              <a:t>; U. Praveen </a:t>
            </a:r>
            <a:r>
              <a:rPr lang="en-US" altLang="en-GB" sz="2100" b="1" dirty="0">
                <a:latin typeface="Times New Roman" panose="02020603050405020304" pitchFamily="18" charset="0"/>
                <a:cs typeface="Times New Roman" panose="02020603050405020304" pitchFamily="18" charset="0"/>
              </a:rPr>
              <a:t>Techniques</a:t>
            </a:r>
            <a:r>
              <a:rPr lang="en-US" altLang="en-GB" sz="2100" dirty="0">
                <a:latin typeface="Times New Roman" panose="02020603050405020304" pitchFamily="18" charset="0"/>
                <a:cs typeface="Times New Roman" panose="02020603050405020304" pitchFamily="18" charset="0"/>
              </a:rPr>
              <a:t>: Speech-to-Text Conversion (STT),Cloud-Based NLP Processing</a:t>
            </a:r>
          </a:p>
          <a:p>
            <a:pPr marL="0" indent="0">
              <a:buNone/>
            </a:pPr>
            <a:r>
              <a:rPr lang="en-US" altLang="en-GB" sz="2100" b="1" dirty="0">
                <a:latin typeface="Times New Roman" panose="02020603050405020304" pitchFamily="18" charset="0"/>
                <a:cs typeface="Times New Roman" panose="02020603050405020304" pitchFamily="18" charset="0"/>
              </a:rPr>
              <a:t>Parameters</a:t>
            </a:r>
            <a:r>
              <a:rPr lang="en-US" altLang="en-GB" sz="2100" dirty="0">
                <a:latin typeface="Times New Roman" panose="02020603050405020304" pitchFamily="18" charset="0"/>
                <a:cs typeface="Times New Roman" panose="02020603050405020304" pitchFamily="18" charset="0"/>
              </a:rPr>
              <a:t>: Speech </a:t>
            </a:r>
            <a:r>
              <a:rPr lang="en-US" altLang="en-GB" sz="2100" dirty="0" err="1">
                <a:latin typeface="Times New Roman" panose="02020603050405020304" pitchFamily="18" charset="0"/>
                <a:cs typeface="Times New Roman" panose="02020603050405020304" pitchFamily="18" charset="0"/>
              </a:rPr>
              <a:t>Input,Voice</a:t>
            </a:r>
            <a:r>
              <a:rPr lang="en-US" altLang="en-GB" sz="2100" dirty="0">
                <a:latin typeface="Times New Roman" panose="02020603050405020304" pitchFamily="18" charset="0"/>
                <a:cs typeface="Times New Roman" panose="02020603050405020304" pitchFamily="18" charset="0"/>
              </a:rPr>
              <a:t> </a:t>
            </a:r>
            <a:r>
              <a:rPr lang="en-US" altLang="en-GB" sz="2100" dirty="0" err="1">
                <a:latin typeface="Times New Roman" panose="02020603050405020304" pitchFamily="18" charset="0"/>
                <a:cs typeface="Times New Roman" panose="02020603050405020304" pitchFamily="18" charset="0"/>
              </a:rPr>
              <a:t>Features,Language</a:t>
            </a:r>
            <a:r>
              <a:rPr lang="en-US" altLang="en-GB" sz="2100" dirty="0">
                <a:latin typeface="Times New Roman" panose="02020603050405020304" pitchFamily="18" charset="0"/>
                <a:cs typeface="Times New Roman" panose="02020603050405020304" pitchFamily="18" charset="0"/>
              </a:rPr>
              <a:t> model selection</a:t>
            </a:r>
          </a:p>
          <a:p>
            <a:pPr marL="0" indent="0">
              <a:buNone/>
            </a:pPr>
            <a:r>
              <a:rPr lang="en-US" altLang="en-GB" sz="2100" b="1" dirty="0">
                <a:latin typeface="Times New Roman" panose="02020603050405020304" pitchFamily="18" charset="0"/>
                <a:cs typeface="Times New Roman" panose="02020603050405020304" pitchFamily="18" charset="0"/>
              </a:rPr>
              <a:t>Drawbacks</a:t>
            </a:r>
            <a:r>
              <a:rPr lang="en-US" altLang="en-GB" sz="2100" dirty="0">
                <a:latin typeface="Times New Roman" panose="02020603050405020304" pitchFamily="18" charset="0"/>
                <a:cs typeface="Times New Roman" panose="02020603050405020304" pitchFamily="18" charset="0"/>
              </a:rPr>
              <a:t>: Privacy </a:t>
            </a:r>
            <a:r>
              <a:rPr lang="en-US" altLang="en-GB" sz="2100" dirty="0" err="1">
                <a:latin typeface="Times New Roman" panose="02020603050405020304" pitchFamily="18" charset="0"/>
                <a:cs typeface="Times New Roman" panose="02020603050405020304" pitchFamily="18" charset="0"/>
              </a:rPr>
              <a:t>Concerns,Dependency</a:t>
            </a:r>
            <a:r>
              <a:rPr lang="en-US" altLang="en-GB" sz="2100" dirty="0">
                <a:latin typeface="Times New Roman" panose="02020603050405020304" pitchFamily="18" charset="0"/>
                <a:cs typeface="Times New Roman" panose="02020603050405020304" pitchFamily="18" charset="0"/>
              </a:rPr>
              <a:t> on Internet Connectivity</a:t>
            </a:r>
          </a:p>
          <a:p>
            <a:pPr marL="0" indent="0">
              <a:buNone/>
            </a:pPr>
            <a:r>
              <a:rPr lang="en-US" altLang="en-GB" sz="2100" b="1" dirty="0">
                <a:latin typeface="Times New Roman" panose="02020603050405020304" pitchFamily="18" charset="0"/>
                <a:cs typeface="Times New Roman" panose="02020603050405020304" pitchFamily="18" charset="0"/>
              </a:rPr>
              <a:t>Year</a:t>
            </a:r>
            <a:r>
              <a:rPr lang="en-US" altLang="en-GB" sz="2100" dirty="0">
                <a:latin typeface="Times New Roman" panose="02020603050405020304" pitchFamily="18" charset="0"/>
                <a:cs typeface="Times New Roman" panose="02020603050405020304" pitchFamily="18" charset="0"/>
              </a:rPr>
              <a:t>: 2017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565"/>
            <a:ext cx="8229600" cy="685800"/>
          </a:xfrm>
        </p:spPr>
        <p:txBody>
          <a:bodyPr>
            <a:normAutofit fontScale="90000"/>
          </a:bodyPr>
          <a:lstStyle/>
          <a:p>
            <a:r>
              <a:rPr lang="en-IN" b="1" dirty="0">
                <a:latin typeface="Times New Roman" panose="02020603050405020304" pitchFamily="18" charset="0"/>
                <a:cs typeface="Times New Roman" panose="02020603050405020304" pitchFamily="18" charset="0"/>
                <a:sym typeface="+mn-ea"/>
              </a:rPr>
              <a:t>LITERATURE SURVEY</a:t>
            </a:r>
            <a:endParaRPr lang="en-GB" altLang="en-US" dirty="0"/>
          </a:p>
        </p:txBody>
      </p:sp>
      <p:sp>
        <p:nvSpPr>
          <p:cNvPr id="3" name="Content Placeholder 2"/>
          <p:cNvSpPr>
            <a:spLocks noGrp="1"/>
          </p:cNvSpPr>
          <p:nvPr>
            <p:ph idx="1"/>
          </p:nvPr>
        </p:nvSpPr>
        <p:spPr>
          <a:xfrm>
            <a:off x="23495" y="685801"/>
            <a:ext cx="9120505" cy="6195060"/>
          </a:xfrm>
        </p:spPr>
        <p:txBody>
          <a:bodyPr>
            <a:noAutofit/>
          </a:bodyPr>
          <a:lstStyle/>
          <a:p>
            <a:pPr marL="0" indent="0">
              <a:buNone/>
            </a:pPr>
            <a:r>
              <a:rPr lang="en-GB" altLang="en-US" sz="2000" b="1" dirty="0">
                <a:latin typeface="Times New Roman" panose="02020603050405020304" pitchFamily="18" charset="0"/>
                <a:cs typeface="Times New Roman" panose="02020603050405020304" pitchFamily="18" charset="0"/>
              </a:rPr>
              <a:t>3.</a:t>
            </a:r>
            <a:r>
              <a:rPr lang="en-US" altLang="en-GB" sz="2000" b="1" dirty="0">
                <a:latin typeface="Times New Roman" panose="02020603050405020304" pitchFamily="18" charset="0"/>
                <a:cs typeface="Times New Roman" panose="02020603050405020304" pitchFamily="18" charset="0"/>
              </a:rPr>
              <a:t>Title</a:t>
            </a:r>
            <a:r>
              <a:rPr lang="en-US" altLang="en-GB" sz="2000" dirty="0">
                <a:latin typeface="Times New Roman" panose="02020603050405020304" pitchFamily="18" charset="0"/>
                <a:cs typeface="Times New Roman" panose="02020603050405020304" pitchFamily="18" charset="0"/>
              </a:rPr>
              <a:t>: .Offline Smart Home Automation System with Automatic Speech Recognition and Household Power Usage Tracking</a:t>
            </a:r>
          </a:p>
          <a:p>
            <a:pPr marL="0" indent="0">
              <a:buNone/>
            </a:pPr>
            <a:r>
              <a:rPr lang="en-US" altLang="en-GB" sz="2000" b="1" dirty="0">
                <a:latin typeface="Times New Roman" panose="02020603050405020304" pitchFamily="18" charset="0"/>
                <a:cs typeface="Times New Roman" panose="02020603050405020304" pitchFamily="18" charset="0"/>
              </a:rPr>
              <a:t>Author</a:t>
            </a:r>
            <a:r>
              <a:rPr lang="en-US" altLang="en-GB" sz="2000" dirty="0">
                <a:latin typeface="Times New Roman" panose="02020603050405020304" pitchFamily="18" charset="0"/>
                <a:cs typeface="Times New Roman" panose="02020603050405020304" pitchFamily="18" charset="0"/>
              </a:rPr>
              <a:t>: </a:t>
            </a:r>
            <a:r>
              <a:rPr lang="en-US" altLang="en-GB" sz="2000" dirty="0" err="1">
                <a:latin typeface="Times New Roman" panose="02020603050405020304" pitchFamily="18" charset="0"/>
                <a:cs typeface="Times New Roman" panose="02020603050405020304" pitchFamily="18" charset="0"/>
              </a:rPr>
              <a:t>Irugalbandara</a:t>
            </a:r>
            <a:r>
              <a:rPr lang="en-US" altLang="en-GB" sz="2000" dirty="0">
                <a:latin typeface="Times New Roman" panose="02020603050405020304" pitchFamily="18" charset="0"/>
                <a:cs typeface="Times New Roman" panose="02020603050405020304" pitchFamily="18" charset="0"/>
              </a:rPr>
              <a:t>, I.B.C.; Naseem, A.S.M.; Perera, M.S.H.; </a:t>
            </a:r>
            <a:r>
              <a:rPr lang="en-US" altLang="en-GB" sz="2000" dirty="0" err="1">
                <a:latin typeface="Times New Roman" panose="02020603050405020304" pitchFamily="18" charset="0"/>
                <a:cs typeface="Times New Roman" panose="02020603050405020304" pitchFamily="18" charset="0"/>
              </a:rPr>
              <a:t>Logeeshan</a:t>
            </a:r>
            <a:r>
              <a:rPr lang="en-US" altLang="en-GB" sz="2000" dirty="0">
                <a:latin typeface="Times New Roman" panose="02020603050405020304" pitchFamily="18" charset="0"/>
                <a:cs typeface="Times New Roman" panose="02020603050405020304" pitchFamily="18" charset="0"/>
              </a:rPr>
              <a:t>..</a:t>
            </a:r>
          </a:p>
          <a:p>
            <a:pPr marL="0" indent="0">
              <a:buNone/>
            </a:pPr>
            <a:r>
              <a:rPr lang="en-US" altLang="en-GB" sz="2000" b="1" dirty="0">
                <a:latin typeface="Times New Roman" panose="02020603050405020304" pitchFamily="18" charset="0"/>
                <a:cs typeface="Times New Roman" panose="02020603050405020304" pitchFamily="18" charset="0"/>
              </a:rPr>
              <a:t>Techniques</a:t>
            </a:r>
            <a:r>
              <a:rPr lang="en-US" altLang="en-GB" sz="2000" dirty="0">
                <a:latin typeface="Times New Roman" panose="02020603050405020304" pitchFamily="18" charset="0"/>
                <a:cs typeface="Times New Roman" panose="02020603050405020304" pitchFamily="18" charset="0"/>
              </a:rPr>
              <a:t>: Local Speech Recognition </a:t>
            </a:r>
            <a:r>
              <a:rPr lang="en-US" altLang="en-GB" sz="2000" dirty="0" err="1">
                <a:latin typeface="Times New Roman" panose="02020603050405020304" pitchFamily="18" charset="0"/>
                <a:cs typeface="Times New Roman" panose="02020603050405020304" pitchFamily="18" charset="0"/>
              </a:rPr>
              <a:t>Models,Voice</a:t>
            </a:r>
            <a:r>
              <a:rPr lang="en-US" altLang="en-GB" sz="2000" dirty="0">
                <a:latin typeface="Times New Roman" panose="02020603050405020304" pitchFamily="18" charset="0"/>
                <a:cs typeface="Times New Roman" panose="02020603050405020304" pitchFamily="18" charset="0"/>
              </a:rPr>
              <a:t> Command Parsing and </a:t>
            </a:r>
            <a:r>
              <a:rPr lang="en-US" altLang="en-GB" sz="2000" dirty="0" err="1">
                <a:latin typeface="Times New Roman" panose="02020603050405020304" pitchFamily="18" charset="0"/>
                <a:cs typeface="Times New Roman" panose="02020603050405020304" pitchFamily="18" charset="0"/>
              </a:rPr>
              <a:t>NLP,Energy</a:t>
            </a:r>
            <a:r>
              <a:rPr lang="en-US" altLang="en-GB" sz="2000" dirty="0">
                <a:latin typeface="Times New Roman" panose="02020603050405020304" pitchFamily="18" charset="0"/>
                <a:cs typeface="Times New Roman" panose="02020603050405020304" pitchFamily="18" charset="0"/>
              </a:rPr>
              <a:t> Metering and Smart Plugs</a:t>
            </a:r>
          </a:p>
          <a:p>
            <a:pPr marL="0" indent="0">
              <a:buNone/>
            </a:pPr>
            <a:r>
              <a:rPr lang="en-US" altLang="en-GB" sz="2000" b="1" dirty="0" err="1">
                <a:latin typeface="Times New Roman" panose="02020603050405020304" pitchFamily="18" charset="0"/>
                <a:cs typeface="Times New Roman" panose="02020603050405020304" pitchFamily="18" charset="0"/>
              </a:rPr>
              <a:t>Parameters</a:t>
            </a:r>
            <a:r>
              <a:rPr lang="en-US" altLang="en-GB" sz="2000" dirty="0" err="1">
                <a:latin typeface="Times New Roman" panose="02020603050405020304" pitchFamily="18" charset="0"/>
                <a:cs typeface="Times New Roman" panose="02020603050405020304" pitchFamily="18" charset="0"/>
              </a:rPr>
              <a:t>:Offline</a:t>
            </a:r>
            <a:r>
              <a:rPr lang="en-US" altLang="en-GB" sz="2000" dirty="0">
                <a:latin typeface="Times New Roman" panose="02020603050405020304" pitchFamily="18" charset="0"/>
                <a:cs typeface="Times New Roman" panose="02020603050405020304" pitchFamily="18" charset="0"/>
              </a:rPr>
              <a:t> </a:t>
            </a:r>
            <a:r>
              <a:rPr lang="en-US" altLang="en-GB" sz="2000" dirty="0" err="1">
                <a:latin typeface="Times New Roman" panose="02020603050405020304" pitchFamily="18" charset="0"/>
                <a:cs typeface="Times New Roman" panose="02020603050405020304" pitchFamily="18" charset="0"/>
              </a:rPr>
              <a:t>Operation,Local</a:t>
            </a:r>
            <a:r>
              <a:rPr lang="en-US" altLang="en-GB" sz="2000" dirty="0">
                <a:latin typeface="Times New Roman" panose="02020603050405020304" pitchFamily="18" charset="0"/>
                <a:cs typeface="Times New Roman" panose="02020603050405020304" pitchFamily="18" charset="0"/>
              </a:rPr>
              <a:t> Device </a:t>
            </a:r>
            <a:r>
              <a:rPr lang="en-US" altLang="en-GB" sz="2000" dirty="0" err="1">
                <a:latin typeface="Times New Roman" panose="02020603050405020304" pitchFamily="18" charset="0"/>
                <a:cs typeface="Times New Roman" panose="02020603050405020304" pitchFamily="18" charset="0"/>
              </a:rPr>
              <a:t>Communication,Automatic</a:t>
            </a:r>
            <a:r>
              <a:rPr lang="en-US" altLang="en-GB" sz="2000" dirty="0">
                <a:latin typeface="Times New Roman" panose="02020603050405020304" pitchFamily="18" charset="0"/>
                <a:cs typeface="Times New Roman" panose="02020603050405020304" pitchFamily="18" charset="0"/>
              </a:rPr>
              <a:t> Speech Recognition (ASR)</a:t>
            </a:r>
          </a:p>
          <a:p>
            <a:pPr marL="0" indent="0">
              <a:buNone/>
            </a:pPr>
            <a:r>
              <a:rPr lang="en-US" altLang="en-GB" sz="2000" b="1" dirty="0">
                <a:latin typeface="Times New Roman" panose="02020603050405020304" pitchFamily="18" charset="0"/>
                <a:cs typeface="Times New Roman" panose="02020603050405020304" pitchFamily="18" charset="0"/>
              </a:rPr>
              <a:t>Drawbacks</a:t>
            </a:r>
            <a:r>
              <a:rPr lang="en-US" altLang="en-GB" sz="2000" dirty="0">
                <a:latin typeface="Times New Roman" panose="02020603050405020304" pitchFamily="18" charset="0"/>
                <a:cs typeface="Times New Roman" panose="02020603050405020304" pitchFamily="18" charset="0"/>
              </a:rPr>
              <a:t>: Limited Device </a:t>
            </a:r>
            <a:r>
              <a:rPr lang="en-US" altLang="en-GB" sz="2000" dirty="0" err="1">
                <a:latin typeface="Times New Roman" panose="02020603050405020304" pitchFamily="18" charset="0"/>
                <a:cs typeface="Times New Roman" panose="02020603050405020304" pitchFamily="18" charset="0"/>
              </a:rPr>
              <a:t>Interoperability,Scalability</a:t>
            </a:r>
            <a:r>
              <a:rPr lang="en-US" altLang="en-GB" sz="2000" dirty="0">
                <a:latin typeface="Times New Roman" panose="02020603050405020304" pitchFamily="18" charset="0"/>
                <a:cs typeface="Times New Roman" panose="02020603050405020304" pitchFamily="18" charset="0"/>
              </a:rPr>
              <a:t> </a:t>
            </a:r>
            <a:r>
              <a:rPr lang="en-US" altLang="en-GB" sz="2000" dirty="0" err="1">
                <a:latin typeface="Times New Roman" panose="02020603050405020304" pitchFamily="18" charset="0"/>
                <a:cs typeface="Times New Roman" panose="02020603050405020304" pitchFamily="18" charset="0"/>
              </a:rPr>
              <a:t>Issues,Complex</a:t>
            </a:r>
            <a:r>
              <a:rPr lang="en-US" altLang="en-GB" sz="2000" dirty="0">
                <a:latin typeface="Times New Roman" panose="02020603050405020304" pitchFamily="18" charset="0"/>
                <a:cs typeface="Times New Roman" panose="02020603050405020304" pitchFamily="18" charset="0"/>
              </a:rPr>
              <a:t> Setup and Maintenance</a:t>
            </a:r>
          </a:p>
          <a:p>
            <a:pPr marL="0" indent="0">
              <a:buNone/>
            </a:pPr>
            <a:r>
              <a:rPr lang="en-US" altLang="en-GB" sz="2000" b="1" dirty="0">
                <a:latin typeface="Times New Roman" panose="02020603050405020304" pitchFamily="18" charset="0"/>
                <a:cs typeface="Times New Roman" panose="02020603050405020304" pitchFamily="18" charset="0"/>
              </a:rPr>
              <a:t>Year</a:t>
            </a:r>
            <a:r>
              <a:rPr lang="en-US" altLang="en-GB" sz="2000" dirty="0">
                <a:latin typeface="Times New Roman" panose="02020603050405020304" pitchFamily="18" charset="0"/>
                <a:cs typeface="Times New Roman" panose="02020603050405020304" pitchFamily="18" charset="0"/>
              </a:rPr>
              <a:t>: 2022</a:t>
            </a:r>
          </a:p>
          <a:p>
            <a:pPr marL="0" indent="0">
              <a:buNone/>
            </a:pPr>
            <a:r>
              <a:rPr lang="en-GB" altLang="en-US" sz="2000" b="1" dirty="0">
                <a:latin typeface="Times New Roman" panose="02020603050405020304" pitchFamily="18" charset="0"/>
                <a:cs typeface="Times New Roman" panose="02020603050405020304" pitchFamily="18" charset="0"/>
              </a:rPr>
              <a:t>4.</a:t>
            </a:r>
            <a:r>
              <a:rPr lang="en-US" altLang="en-GB" sz="2000" b="1" dirty="0">
                <a:latin typeface="Times New Roman" panose="02020603050405020304" pitchFamily="18" charset="0"/>
                <a:cs typeface="Times New Roman" panose="02020603050405020304" pitchFamily="18" charset="0"/>
              </a:rPr>
              <a:t>Title</a:t>
            </a:r>
            <a:r>
              <a:rPr lang="en-US" altLang="en-GB" sz="2000" dirty="0">
                <a:latin typeface="Times New Roman" panose="02020603050405020304" pitchFamily="18" charset="0"/>
                <a:cs typeface="Times New Roman" panose="02020603050405020304" pitchFamily="18" charset="0"/>
              </a:rPr>
              <a:t>: Low Cost Home Automation Using Offline Speech Recognition</a:t>
            </a:r>
          </a:p>
          <a:p>
            <a:pPr marL="0" indent="0">
              <a:buNone/>
            </a:pPr>
            <a:r>
              <a:rPr lang="en-US" altLang="en-GB" sz="2000" b="1" dirty="0">
                <a:latin typeface="Times New Roman" panose="02020603050405020304" pitchFamily="18" charset="0"/>
                <a:cs typeface="Times New Roman" panose="02020603050405020304" pitchFamily="18" charset="0"/>
              </a:rPr>
              <a:t>Author</a:t>
            </a:r>
            <a:r>
              <a:rPr lang="en-US" altLang="en-GB" sz="2000" dirty="0">
                <a:latin typeface="Times New Roman" panose="02020603050405020304" pitchFamily="18" charset="0"/>
                <a:cs typeface="Times New Roman" panose="02020603050405020304" pitchFamily="18" charset="0"/>
              </a:rPr>
              <a:t>: Prasanna </a:t>
            </a:r>
            <a:r>
              <a:rPr lang="en-US" altLang="en-GB" sz="2000" dirty="0" err="1">
                <a:latin typeface="Times New Roman" panose="02020603050405020304" pitchFamily="18" charset="0"/>
                <a:cs typeface="Times New Roman" panose="02020603050405020304" pitchFamily="18" charset="0"/>
              </a:rPr>
              <a:t>G,Ramadas</a:t>
            </a:r>
            <a:r>
              <a:rPr lang="en-US" altLang="en-GB" sz="2000" dirty="0">
                <a:latin typeface="Times New Roman" panose="02020603050405020304" pitchFamily="18" charset="0"/>
                <a:cs typeface="Times New Roman" panose="02020603050405020304" pitchFamily="18" charset="0"/>
              </a:rPr>
              <a:t> </a:t>
            </a:r>
          </a:p>
          <a:p>
            <a:pPr marL="0" indent="0">
              <a:buNone/>
            </a:pPr>
            <a:r>
              <a:rPr lang="en-US" altLang="en-GB" sz="2000" b="1" dirty="0">
                <a:latin typeface="Times New Roman" panose="02020603050405020304" pitchFamily="18" charset="0"/>
                <a:cs typeface="Times New Roman" panose="02020603050405020304" pitchFamily="18" charset="0"/>
              </a:rPr>
              <a:t>Techniques</a:t>
            </a:r>
            <a:r>
              <a:rPr lang="en-US" altLang="en-GB" sz="2000" dirty="0">
                <a:latin typeface="Times New Roman" panose="02020603050405020304" pitchFamily="18" charset="0"/>
                <a:cs typeface="Times New Roman" panose="02020603050405020304" pitchFamily="18" charset="0"/>
              </a:rPr>
              <a:t>: Offline Speech </a:t>
            </a:r>
            <a:r>
              <a:rPr lang="en-US" altLang="en-GB" sz="2000" dirty="0" err="1">
                <a:latin typeface="Times New Roman" panose="02020603050405020304" pitchFamily="18" charset="0"/>
                <a:cs typeface="Times New Roman" panose="02020603050405020304" pitchFamily="18" charset="0"/>
              </a:rPr>
              <a:t>Recognition,Microcontrollers</a:t>
            </a:r>
            <a:r>
              <a:rPr lang="en-US" altLang="en-GB" sz="2000" dirty="0">
                <a:latin typeface="Times New Roman" panose="02020603050405020304" pitchFamily="18" charset="0"/>
                <a:cs typeface="Times New Roman" panose="02020603050405020304" pitchFamily="18" charset="0"/>
              </a:rPr>
              <a:t> and Single-Board Computers (SBCs)</a:t>
            </a:r>
          </a:p>
          <a:p>
            <a:pPr marL="0" indent="0">
              <a:buNone/>
            </a:pPr>
            <a:r>
              <a:rPr lang="en-US" altLang="en-GB" sz="2000" b="1" dirty="0">
                <a:latin typeface="Times New Roman" panose="02020603050405020304" pitchFamily="18" charset="0"/>
                <a:cs typeface="Times New Roman" panose="02020603050405020304" pitchFamily="18" charset="0"/>
              </a:rPr>
              <a:t>Parameters</a:t>
            </a:r>
            <a:r>
              <a:rPr lang="en-US" altLang="en-GB" sz="2000" dirty="0">
                <a:latin typeface="Times New Roman" panose="02020603050405020304" pitchFamily="18" charset="0"/>
                <a:cs typeface="Times New Roman" panose="02020603050405020304" pitchFamily="18" charset="0"/>
              </a:rPr>
              <a:t>: Wake Word </a:t>
            </a:r>
            <a:r>
              <a:rPr lang="en-US" altLang="en-GB" sz="2000" dirty="0" err="1">
                <a:latin typeface="Times New Roman" panose="02020603050405020304" pitchFamily="18" charset="0"/>
                <a:cs typeface="Times New Roman" panose="02020603050405020304" pitchFamily="18" charset="0"/>
              </a:rPr>
              <a:t>Detection,Microphone</a:t>
            </a:r>
            <a:r>
              <a:rPr lang="en-US" altLang="en-GB" sz="2000" dirty="0">
                <a:latin typeface="Times New Roman" panose="02020603050405020304" pitchFamily="18" charset="0"/>
                <a:cs typeface="Times New Roman" panose="02020603050405020304" pitchFamily="18" charset="0"/>
              </a:rPr>
              <a:t> </a:t>
            </a:r>
            <a:r>
              <a:rPr lang="en-US" altLang="en-GB" sz="2000" dirty="0" err="1">
                <a:latin typeface="Times New Roman" panose="02020603050405020304" pitchFamily="18" charset="0"/>
                <a:cs typeface="Times New Roman" panose="02020603050405020304" pitchFamily="18" charset="0"/>
              </a:rPr>
              <a:t>Quality,Embedded</a:t>
            </a:r>
            <a:r>
              <a:rPr lang="en-US" altLang="en-GB" sz="2000" dirty="0">
                <a:latin typeface="Times New Roman" panose="02020603050405020304" pitchFamily="18" charset="0"/>
                <a:cs typeface="Times New Roman" panose="02020603050405020304" pitchFamily="18" charset="0"/>
              </a:rPr>
              <a:t> Speech Recognition Model</a:t>
            </a:r>
          </a:p>
          <a:p>
            <a:pPr marL="0" indent="0">
              <a:buNone/>
            </a:pPr>
            <a:r>
              <a:rPr lang="en-US" altLang="en-GB" sz="2000" b="1" dirty="0">
                <a:latin typeface="Times New Roman" panose="02020603050405020304" pitchFamily="18" charset="0"/>
                <a:cs typeface="Times New Roman" panose="02020603050405020304" pitchFamily="18" charset="0"/>
              </a:rPr>
              <a:t>Drawbacks</a:t>
            </a:r>
            <a:r>
              <a:rPr lang="en-US" altLang="en-GB" sz="2000" dirty="0">
                <a:latin typeface="Times New Roman" panose="02020603050405020304" pitchFamily="18" charset="0"/>
                <a:cs typeface="Times New Roman" panose="02020603050405020304" pitchFamily="18" charset="0"/>
              </a:rPr>
              <a:t>: Limited Processing </a:t>
            </a:r>
            <a:r>
              <a:rPr lang="en-US" altLang="en-GB" sz="2000" dirty="0" err="1">
                <a:latin typeface="Times New Roman" panose="02020603050405020304" pitchFamily="18" charset="0"/>
                <a:cs typeface="Times New Roman" panose="02020603050405020304" pitchFamily="18" charset="0"/>
              </a:rPr>
              <a:t>Power,Limited</a:t>
            </a:r>
            <a:r>
              <a:rPr lang="en-US" altLang="en-GB" sz="2000" dirty="0">
                <a:latin typeface="Times New Roman" panose="02020603050405020304" pitchFamily="18" charset="0"/>
                <a:cs typeface="Times New Roman" panose="02020603050405020304" pitchFamily="18" charset="0"/>
              </a:rPr>
              <a:t> </a:t>
            </a:r>
            <a:r>
              <a:rPr lang="en-US" altLang="en-GB" sz="2000" dirty="0" err="1">
                <a:latin typeface="Times New Roman" panose="02020603050405020304" pitchFamily="18" charset="0"/>
                <a:cs typeface="Times New Roman" panose="02020603050405020304" pitchFamily="18" charset="0"/>
              </a:rPr>
              <a:t>Vocabulary,Energy</a:t>
            </a:r>
            <a:r>
              <a:rPr lang="en-US" altLang="en-GB" sz="2000" dirty="0">
                <a:latin typeface="Times New Roman" panose="02020603050405020304" pitchFamily="18" charset="0"/>
                <a:cs typeface="Times New Roman" panose="02020603050405020304" pitchFamily="18" charset="0"/>
              </a:rPr>
              <a:t> Consumption</a:t>
            </a:r>
          </a:p>
          <a:p>
            <a:pPr marL="0" indent="0">
              <a:buNone/>
            </a:pPr>
            <a:r>
              <a:rPr lang="en-US" altLang="en-GB" sz="2000" b="1" dirty="0">
                <a:latin typeface="Times New Roman" panose="02020603050405020304" pitchFamily="18" charset="0"/>
                <a:cs typeface="Times New Roman" panose="02020603050405020304" pitchFamily="18" charset="0"/>
              </a:rPr>
              <a:t>Year</a:t>
            </a:r>
            <a:r>
              <a:rPr lang="en-US" altLang="en-GB" sz="2000" dirty="0">
                <a:latin typeface="Times New Roman" panose="02020603050405020304" pitchFamily="18" charset="0"/>
                <a:cs typeface="Times New Roman" panose="02020603050405020304" pitchFamily="18" charset="0"/>
              </a:rPr>
              <a:t>: 2014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35330"/>
          </a:xfrm>
        </p:spPr>
        <p:txBody>
          <a:bodyPr>
            <a:normAutofit fontScale="90000"/>
          </a:bodyPr>
          <a:lstStyle/>
          <a:p>
            <a:r>
              <a:rPr lang="en-IN" b="1" dirty="0">
                <a:latin typeface="Times New Roman" panose="02020603050405020304" pitchFamily="18" charset="0"/>
                <a:cs typeface="Times New Roman" panose="02020603050405020304" pitchFamily="18" charset="0"/>
                <a:sym typeface="+mn-ea"/>
              </a:rPr>
              <a:t>LITERATURE SURVEY</a:t>
            </a:r>
            <a:endParaRPr lang="en-GB" altLang="en-US"/>
          </a:p>
        </p:txBody>
      </p:sp>
      <p:sp>
        <p:nvSpPr>
          <p:cNvPr id="3" name="Content Placeholder 2"/>
          <p:cNvSpPr>
            <a:spLocks noGrp="1"/>
          </p:cNvSpPr>
          <p:nvPr>
            <p:ph idx="1"/>
          </p:nvPr>
        </p:nvSpPr>
        <p:spPr>
          <a:xfrm>
            <a:off x="-25400" y="545465"/>
            <a:ext cx="8951595" cy="6312535"/>
          </a:xfrm>
        </p:spPr>
        <p:txBody>
          <a:bodyPr>
            <a:normAutofit fontScale="67500" lnSpcReduction="20000"/>
          </a:bodyPr>
          <a:lstStyle/>
          <a:p>
            <a:pPr marL="0" indent="0">
              <a:buNone/>
            </a:pPr>
            <a:r>
              <a:rPr lang="en-GB" altLang="en-US" sz="3600" dirty="0">
                <a:latin typeface="Times New Roman" panose="02020603050405020304" pitchFamily="18" charset="0"/>
                <a:cs typeface="Times New Roman" panose="02020603050405020304" pitchFamily="18" charset="0"/>
              </a:rPr>
              <a:t>5</a:t>
            </a:r>
            <a:r>
              <a:rPr lang="en-GB" altLang="en-US" sz="2500" b="1" dirty="0">
                <a:latin typeface="Times New Roman" panose="02020603050405020304" pitchFamily="18" charset="0"/>
                <a:cs typeface="Times New Roman" panose="02020603050405020304" pitchFamily="18" charset="0"/>
              </a:rPr>
              <a:t>.</a:t>
            </a:r>
            <a:r>
              <a:rPr lang="en-US" altLang="en-GB" sz="3430" b="1" dirty="0">
                <a:latin typeface="Times New Roman" panose="02020603050405020304" pitchFamily="18" charset="0"/>
                <a:cs typeface="Times New Roman" panose="02020603050405020304" pitchFamily="18" charset="0"/>
              </a:rPr>
              <a:t>Title</a:t>
            </a:r>
            <a:r>
              <a:rPr lang="en-US" altLang="en-GB" sz="3430" dirty="0">
                <a:latin typeface="Times New Roman" panose="02020603050405020304" pitchFamily="18" charset="0"/>
                <a:cs typeface="Times New Roman" panose="02020603050405020304" pitchFamily="18" charset="0"/>
              </a:rPr>
              <a:t>: Design and implementation of smart home energy management systems using green energy.</a:t>
            </a:r>
          </a:p>
          <a:p>
            <a:pPr marL="0" indent="0">
              <a:buNone/>
            </a:pPr>
            <a:r>
              <a:rPr lang="en-US" altLang="en-GB" sz="3430" b="1" dirty="0">
                <a:latin typeface="Times New Roman" panose="02020603050405020304" pitchFamily="18" charset="0"/>
                <a:cs typeface="Times New Roman" panose="02020603050405020304" pitchFamily="18" charset="0"/>
              </a:rPr>
              <a:t>Author</a:t>
            </a:r>
            <a:r>
              <a:rPr lang="en-US" altLang="en-GB" sz="3430" dirty="0">
                <a:latin typeface="Times New Roman" panose="02020603050405020304" pitchFamily="18" charset="0"/>
                <a:cs typeface="Times New Roman" panose="02020603050405020304" pitchFamily="18" charset="0"/>
              </a:rPr>
              <a:t>: Zhen, </a:t>
            </a:r>
            <a:r>
              <a:rPr lang="en-US" altLang="en-GB" sz="3430" dirty="0" err="1">
                <a:latin typeface="Times New Roman" panose="02020603050405020304" pitchFamily="18" charset="0"/>
                <a:cs typeface="Times New Roman" panose="02020603050405020304" pitchFamily="18" charset="0"/>
              </a:rPr>
              <a:t>Y.Maragatham</a:t>
            </a:r>
            <a:r>
              <a:rPr lang="en-US" altLang="en-GB" sz="3430" dirty="0">
                <a:latin typeface="Times New Roman" panose="02020603050405020304" pitchFamily="18" charset="0"/>
                <a:cs typeface="Times New Roman" panose="02020603050405020304" pitchFamily="18" charset="0"/>
              </a:rPr>
              <a:t>, T.; Mahapatra, R.P.</a:t>
            </a:r>
          </a:p>
          <a:p>
            <a:pPr marL="0" indent="0">
              <a:buNone/>
            </a:pPr>
            <a:r>
              <a:rPr lang="en-US" altLang="en-GB" sz="3430" b="1" dirty="0">
                <a:latin typeface="Times New Roman" panose="02020603050405020304" pitchFamily="18" charset="0"/>
                <a:cs typeface="Times New Roman" panose="02020603050405020304" pitchFamily="18" charset="0"/>
              </a:rPr>
              <a:t>Techniques</a:t>
            </a:r>
            <a:r>
              <a:rPr lang="en-US" altLang="en-GB" sz="3430" dirty="0">
                <a:latin typeface="Times New Roman" panose="02020603050405020304" pitchFamily="18" charset="0"/>
                <a:cs typeface="Times New Roman" panose="02020603050405020304" pitchFamily="18" charset="0"/>
              </a:rPr>
              <a:t>: Optimization </a:t>
            </a:r>
            <a:r>
              <a:rPr lang="en-US" altLang="en-GB" sz="3430" dirty="0" err="1">
                <a:latin typeface="Times New Roman" panose="02020603050405020304" pitchFamily="18" charset="0"/>
                <a:cs typeface="Times New Roman" panose="02020603050405020304" pitchFamily="18" charset="0"/>
              </a:rPr>
              <a:t>Algorithms,Grid</a:t>
            </a:r>
            <a:r>
              <a:rPr lang="en-US" altLang="en-GB" sz="3430" dirty="0">
                <a:latin typeface="Times New Roman" panose="02020603050405020304" pitchFamily="18" charset="0"/>
                <a:cs typeface="Times New Roman" panose="02020603050405020304" pitchFamily="18" charset="0"/>
              </a:rPr>
              <a:t> </a:t>
            </a:r>
            <a:r>
              <a:rPr lang="en-US" altLang="en-GB" sz="3430" dirty="0" err="1">
                <a:latin typeface="Times New Roman" panose="02020603050405020304" pitchFamily="18" charset="0"/>
                <a:cs typeface="Times New Roman" panose="02020603050405020304" pitchFamily="18" charset="0"/>
              </a:rPr>
              <a:t>Interaction,Energy</a:t>
            </a:r>
            <a:r>
              <a:rPr lang="en-US" altLang="en-GB" sz="3430" dirty="0">
                <a:latin typeface="Times New Roman" panose="02020603050405020304" pitchFamily="18" charset="0"/>
                <a:cs typeface="Times New Roman" panose="02020603050405020304" pitchFamily="18" charset="0"/>
              </a:rPr>
              <a:t> Storage Systems.</a:t>
            </a:r>
          </a:p>
          <a:p>
            <a:pPr marL="0" indent="0">
              <a:buNone/>
            </a:pPr>
            <a:r>
              <a:rPr lang="en-US" altLang="en-GB" sz="3430" b="1" dirty="0" err="1">
                <a:latin typeface="Times New Roman" panose="02020603050405020304" pitchFamily="18" charset="0"/>
                <a:cs typeface="Times New Roman" panose="02020603050405020304" pitchFamily="18" charset="0"/>
              </a:rPr>
              <a:t>Parameters</a:t>
            </a:r>
            <a:r>
              <a:rPr lang="en-US" altLang="en-GB" sz="3430" dirty="0" err="1">
                <a:latin typeface="Times New Roman" panose="02020603050405020304" pitchFamily="18" charset="0"/>
                <a:cs typeface="Times New Roman" panose="02020603050405020304" pitchFamily="18" charset="0"/>
              </a:rPr>
              <a:t>:Renewable</a:t>
            </a:r>
            <a:r>
              <a:rPr lang="en-US" altLang="en-GB" sz="3430" dirty="0">
                <a:latin typeface="Times New Roman" panose="02020603050405020304" pitchFamily="18" charset="0"/>
                <a:cs typeface="Times New Roman" panose="02020603050405020304" pitchFamily="18" charset="0"/>
              </a:rPr>
              <a:t> Energy </a:t>
            </a:r>
            <a:r>
              <a:rPr lang="en-US" altLang="en-GB" sz="3430" dirty="0" err="1">
                <a:latin typeface="Times New Roman" panose="02020603050405020304" pitchFamily="18" charset="0"/>
                <a:cs typeface="Times New Roman" panose="02020603050405020304" pitchFamily="18" charset="0"/>
              </a:rPr>
              <a:t>Production,Real</a:t>
            </a:r>
            <a:r>
              <a:rPr lang="en-US" altLang="en-GB" sz="3430" dirty="0">
                <a:latin typeface="Times New Roman" panose="02020603050405020304" pitchFamily="18" charset="0"/>
                <a:cs typeface="Times New Roman" panose="02020603050405020304" pitchFamily="18" charset="0"/>
              </a:rPr>
              <a:t>-Time Monitoring and </a:t>
            </a:r>
            <a:r>
              <a:rPr lang="en-US" altLang="en-GB" sz="3430" dirty="0" err="1">
                <a:latin typeface="Times New Roman" panose="02020603050405020304" pitchFamily="18" charset="0"/>
                <a:cs typeface="Times New Roman" panose="02020603050405020304" pitchFamily="18" charset="0"/>
              </a:rPr>
              <a:t>Control,User</a:t>
            </a:r>
            <a:r>
              <a:rPr lang="en-US" altLang="en-GB" sz="3430" dirty="0">
                <a:latin typeface="Times New Roman" panose="02020603050405020304" pitchFamily="18" charset="0"/>
                <a:cs typeface="Times New Roman" panose="02020603050405020304" pitchFamily="18" charset="0"/>
              </a:rPr>
              <a:t> Comfort and Experience</a:t>
            </a:r>
          </a:p>
          <a:p>
            <a:pPr marL="0" indent="0">
              <a:buNone/>
            </a:pPr>
            <a:r>
              <a:rPr lang="en-US" altLang="en-GB" sz="3430" b="1" dirty="0">
                <a:latin typeface="Times New Roman" panose="02020603050405020304" pitchFamily="18" charset="0"/>
                <a:cs typeface="Times New Roman" panose="02020603050405020304" pitchFamily="18" charset="0"/>
              </a:rPr>
              <a:t>Drawbacks</a:t>
            </a:r>
            <a:r>
              <a:rPr lang="en-US" altLang="en-GB" sz="3430" dirty="0">
                <a:latin typeface="Times New Roman" panose="02020603050405020304" pitchFamily="18" charset="0"/>
                <a:cs typeface="Times New Roman" panose="02020603050405020304" pitchFamily="18" charset="0"/>
              </a:rPr>
              <a:t>: Initial Setup </a:t>
            </a:r>
            <a:r>
              <a:rPr lang="en-US" altLang="en-GB" sz="3430" dirty="0" err="1">
                <a:latin typeface="Times New Roman" panose="02020603050405020304" pitchFamily="18" charset="0"/>
                <a:cs typeface="Times New Roman" panose="02020603050405020304" pitchFamily="18" charset="0"/>
              </a:rPr>
              <a:t>Cost,Intermittency</a:t>
            </a:r>
            <a:r>
              <a:rPr lang="en-US" altLang="en-GB" sz="3430" dirty="0">
                <a:latin typeface="Times New Roman" panose="02020603050405020304" pitchFamily="18" charset="0"/>
                <a:cs typeface="Times New Roman" panose="02020603050405020304" pitchFamily="18" charset="0"/>
              </a:rPr>
              <a:t> of Renewable </a:t>
            </a:r>
            <a:r>
              <a:rPr lang="en-US" altLang="en-GB" sz="3430" dirty="0" err="1">
                <a:latin typeface="Times New Roman" panose="02020603050405020304" pitchFamily="18" charset="0"/>
                <a:cs typeface="Times New Roman" panose="02020603050405020304" pitchFamily="18" charset="0"/>
              </a:rPr>
              <a:t>Energy,Energy</a:t>
            </a:r>
            <a:r>
              <a:rPr lang="en-US" altLang="en-GB" sz="3430" dirty="0">
                <a:latin typeface="Times New Roman" panose="02020603050405020304" pitchFamily="18" charset="0"/>
                <a:cs typeface="Times New Roman" panose="02020603050405020304" pitchFamily="18" charset="0"/>
              </a:rPr>
              <a:t> Storage Challenges</a:t>
            </a:r>
          </a:p>
          <a:p>
            <a:pPr marL="0" indent="0">
              <a:buNone/>
            </a:pPr>
            <a:r>
              <a:rPr lang="en-US" altLang="en-GB" sz="3430" b="1" dirty="0">
                <a:latin typeface="Times New Roman" panose="02020603050405020304" pitchFamily="18" charset="0"/>
                <a:cs typeface="Times New Roman" panose="02020603050405020304" pitchFamily="18" charset="0"/>
              </a:rPr>
              <a:t>Year</a:t>
            </a:r>
            <a:r>
              <a:rPr lang="en-US" altLang="en-GB" sz="3430" dirty="0">
                <a:latin typeface="Times New Roman" panose="02020603050405020304" pitchFamily="18" charset="0"/>
                <a:cs typeface="Times New Roman" panose="02020603050405020304" pitchFamily="18" charset="0"/>
              </a:rPr>
              <a:t>: 2021</a:t>
            </a:r>
          </a:p>
          <a:p>
            <a:pPr marL="0" indent="0">
              <a:buNone/>
            </a:pPr>
            <a:r>
              <a:rPr lang="en-GB" altLang="en-US" sz="3600" dirty="0">
                <a:latin typeface="Times New Roman" panose="02020603050405020304" pitchFamily="18" charset="0"/>
                <a:cs typeface="Times New Roman" panose="02020603050405020304" pitchFamily="18" charset="0"/>
              </a:rPr>
              <a:t>6</a:t>
            </a:r>
            <a:r>
              <a:rPr lang="en-GB" altLang="en-US" sz="3000" b="1" dirty="0">
                <a:latin typeface="Times New Roman" panose="02020603050405020304" pitchFamily="18" charset="0"/>
                <a:cs typeface="Times New Roman" panose="02020603050405020304" pitchFamily="18" charset="0"/>
              </a:rPr>
              <a:t>.</a:t>
            </a:r>
            <a:r>
              <a:rPr lang="en-US" altLang="en-GB" sz="3335" b="1" dirty="0">
                <a:latin typeface="Times New Roman" panose="02020603050405020304" pitchFamily="18" charset="0"/>
                <a:cs typeface="Times New Roman" panose="02020603050405020304" pitchFamily="18" charset="0"/>
              </a:rPr>
              <a:t>Title</a:t>
            </a:r>
            <a:r>
              <a:rPr lang="en-US" altLang="en-GB" sz="3335" dirty="0">
                <a:latin typeface="Times New Roman" panose="02020603050405020304" pitchFamily="18" charset="0"/>
                <a:cs typeface="Times New Roman" panose="02020603050405020304" pitchFamily="18" charset="0"/>
              </a:rPr>
              <a:t>:</a:t>
            </a:r>
            <a:r>
              <a:rPr lang="en-US" altLang="en-GB" sz="3000" dirty="0">
                <a:latin typeface="Times New Roman" panose="02020603050405020304" pitchFamily="18" charset="0"/>
                <a:cs typeface="Times New Roman" panose="02020603050405020304" pitchFamily="18" charset="0"/>
              </a:rPr>
              <a:t> Offline Smart Home Automation System with Automatic Speech Recognition and Household Power Usage Tracking</a:t>
            </a:r>
          </a:p>
          <a:p>
            <a:pPr marL="0" indent="0">
              <a:buNone/>
            </a:pPr>
            <a:r>
              <a:rPr lang="en-US" altLang="en-GB" sz="3335" b="1" dirty="0">
                <a:latin typeface="Times New Roman" panose="02020603050405020304" pitchFamily="18" charset="0"/>
                <a:cs typeface="Times New Roman" panose="02020603050405020304" pitchFamily="18" charset="0"/>
              </a:rPr>
              <a:t>Author</a:t>
            </a:r>
            <a:r>
              <a:rPr lang="en-US" altLang="en-GB" sz="3000" dirty="0">
                <a:latin typeface="Times New Roman" panose="02020603050405020304" pitchFamily="18" charset="0"/>
                <a:cs typeface="Times New Roman" panose="02020603050405020304" pitchFamily="18" charset="0"/>
              </a:rPr>
              <a:t>: I.B.C. </a:t>
            </a:r>
            <a:r>
              <a:rPr lang="en-US" altLang="en-GB" sz="3000" dirty="0" err="1">
                <a:latin typeface="Times New Roman" panose="02020603050405020304" pitchFamily="18" charset="0"/>
                <a:cs typeface="Times New Roman" panose="02020603050405020304" pitchFamily="18" charset="0"/>
              </a:rPr>
              <a:t>Irugalbandara</a:t>
            </a:r>
            <a:r>
              <a:rPr lang="en-US" altLang="en-GB" sz="3000" dirty="0">
                <a:latin typeface="Times New Roman" panose="02020603050405020304" pitchFamily="18" charset="0"/>
                <a:cs typeface="Times New Roman" panose="02020603050405020304" pitchFamily="18" charset="0"/>
              </a:rPr>
              <a:t>; A.S.M. Naseem; M.S.H. Perera; V. </a:t>
            </a:r>
            <a:r>
              <a:rPr lang="en-US" altLang="en-GB" sz="3000" dirty="0" err="1">
                <a:latin typeface="Times New Roman" panose="02020603050405020304" pitchFamily="18" charset="0"/>
                <a:cs typeface="Times New Roman" panose="02020603050405020304" pitchFamily="18" charset="0"/>
              </a:rPr>
              <a:t>Logeeshan</a:t>
            </a:r>
            <a:endParaRPr lang="en-US" altLang="en-GB" sz="3000" dirty="0">
              <a:latin typeface="Times New Roman" panose="02020603050405020304" pitchFamily="18" charset="0"/>
              <a:cs typeface="Times New Roman" panose="02020603050405020304" pitchFamily="18" charset="0"/>
            </a:endParaRPr>
          </a:p>
          <a:p>
            <a:pPr marL="0" indent="0">
              <a:buNone/>
            </a:pPr>
            <a:r>
              <a:rPr lang="en-US" altLang="en-GB" sz="3335" b="1" dirty="0">
                <a:latin typeface="Times New Roman" panose="02020603050405020304" pitchFamily="18" charset="0"/>
                <a:cs typeface="Times New Roman" panose="02020603050405020304" pitchFamily="18" charset="0"/>
              </a:rPr>
              <a:t>Techniques</a:t>
            </a:r>
            <a:r>
              <a:rPr lang="en-US" altLang="en-GB" sz="3000" dirty="0">
                <a:latin typeface="Times New Roman" panose="02020603050405020304" pitchFamily="18" charset="0"/>
                <a:cs typeface="Times New Roman" panose="02020603050405020304" pitchFamily="18" charset="0"/>
              </a:rPr>
              <a:t>: Automatic Speech Recognition (ASR)</a:t>
            </a:r>
          </a:p>
          <a:p>
            <a:pPr marL="0" indent="0">
              <a:buNone/>
            </a:pPr>
            <a:r>
              <a:rPr lang="en-US" altLang="en-GB" sz="3335" b="1" dirty="0">
                <a:latin typeface="Times New Roman" panose="02020603050405020304" pitchFamily="18" charset="0"/>
                <a:cs typeface="Times New Roman" panose="02020603050405020304" pitchFamily="18" charset="0"/>
              </a:rPr>
              <a:t>Parameters</a:t>
            </a:r>
            <a:r>
              <a:rPr lang="en-US" altLang="en-GB" sz="3335" dirty="0">
                <a:latin typeface="Times New Roman" panose="02020603050405020304" pitchFamily="18" charset="0"/>
                <a:cs typeface="Times New Roman" panose="02020603050405020304" pitchFamily="18" charset="0"/>
              </a:rPr>
              <a:t>:</a:t>
            </a:r>
            <a:r>
              <a:rPr lang="en-US" altLang="en-GB" sz="3000" dirty="0">
                <a:latin typeface="Times New Roman" panose="02020603050405020304" pitchFamily="18" charset="0"/>
                <a:cs typeface="Times New Roman" panose="02020603050405020304" pitchFamily="18" charset="0"/>
              </a:rPr>
              <a:t> Automatic Speech Recognition (ASR),Speech Input </a:t>
            </a:r>
            <a:r>
              <a:rPr lang="en-US" altLang="en-GB" sz="3000" dirty="0" err="1">
                <a:latin typeface="Times New Roman" panose="02020603050405020304" pitchFamily="18" charset="0"/>
                <a:cs typeface="Times New Roman" panose="02020603050405020304" pitchFamily="18" charset="0"/>
              </a:rPr>
              <a:t>Quality,Household</a:t>
            </a:r>
            <a:r>
              <a:rPr lang="en-US" altLang="en-GB" sz="3000" dirty="0">
                <a:latin typeface="Times New Roman" panose="02020603050405020304" pitchFamily="18" charset="0"/>
                <a:cs typeface="Times New Roman" panose="02020603050405020304" pitchFamily="18" charset="0"/>
              </a:rPr>
              <a:t> Power Usage Tracking </a:t>
            </a:r>
          </a:p>
          <a:p>
            <a:pPr marL="0" indent="0">
              <a:buNone/>
            </a:pPr>
            <a:r>
              <a:rPr lang="en-US" altLang="en-GB" sz="3335" b="1" dirty="0">
                <a:latin typeface="Times New Roman" panose="02020603050405020304" pitchFamily="18" charset="0"/>
                <a:cs typeface="Times New Roman" panose="02020603050405020304" pitchFamily="18" charset="0"/>
              </a:rPr>
              <a:t>Drawbacks</a:t>
            </a:r>
            <a:r>
              <a:rPr lang="en-US" altLang="en-GB" sz="3000" b="1" dirty="0">
                <a:latin typeface="Times New Roman" panose="02020603050405020304" pitchFamily="18" charset="0"/>
                <a:cs typeface="Times New Roman" panose="02020603050405020304" pitchFamily="18" charset="0"/>
              </a:rPr>
              <a:t>:</a:t>
            </a:r>
            <a:r>
              <a:rPr lang="en-US" altLang="en-GB" sz="3000" dirty="0">
                <a:latin typeface="Times New Roman" panose="02020603050405020304" pitchFamily="18" charset="0"/>
                <a:cs typeface="Times New Roman" panose="02020603050405020304" pitchFamily="18" charset="0"/>
              </a:rPr>
              <a:t> Limited </a:t>
            </a:r>
            <a:r>
              <a:rPr lang="en-US" altLang="en-GB" sz="3000" dirty="0" err="1">
                <a:latin typeface="Times New Roman" panose="02020603050405020304" pitchFamily="18" charset="0"/>
                <a:cs typeface="Times New Roman" panose="02020603050405020304" pitchFamily="18" charset="0"/>
              </a:rPr>
              <a:t>Functionality,Speech</a:t>
            </a:r>
            <a:r>
              <a:rPr lang="en-US" altLang="en-GB" sz="3000" dirty="0">
                <a:latin typeface="Times New Roman" panose="02020603050405020304" pitchFamily="18" charset="0"/>
                <a:cs typeface="Times New Roman" panose="02020603050405020304" pitchFamily="18" charset="0"/>
              </a:rPr>
              <a:t> Recognition </a:t>
            </a:r>
            <a:r>
              <a:rPr lang="en-US" altLang="en-GB" sz="3000" dirty="0" err="1">
                <a:latin typeface="Times New Roman" panose="02020603050405020304" pitchFamily="18" charset="0"/>
                <a:cs typeface="Times New Roman" panose="02020603050405020304" pitchFamily="18" charset="0"/>
              </a:rPr>
              <a:t>Accuracy,Privacy</a:t>
            </a:r>
            <a:r>
              <a:rPr lang="en-US" altLang="en-GB" sz="3000" dirty="0">
                <a:latin typeface="Times New Roman" panose="02020603050405020304" pitchFamily="18" charset="0"/>
                <a:cs typeface="Times New Roman" panose="02020603050405020304" pitchFamily="18" charset="0"/>
              </a:rPr>
              <a:t> and Security</a:t>
            </a:r>
          </a:p>
          <a:p>
            <a:pPr marL="0" indent="0">
              <a:buNone/>
            </a:pPr>
            <a:r>
              <a:rPr lang="en-US" altLang="en-GB" sz="3335" b="1" dirty="0">
                <a:latin typeface="Times New Roman" panose="02020603050405020304" pitchFamily="18" charset="0"/>
                <a:cs typeface="Times New Roman" panose="02020603050405020304" pitchFamily="18" charset="0"/>
              </a:rPr>
              <a:t>Year of publish</a:t>
            </a:r>
            <a:r>
              <a:rPr lang="en-US" altLang="en-GB" sz="3000" dirty="0">
                <a:latin typeface="Times New Roman" panose="02020603050405020304" pitchFamily="18" charset="0"/>
                <a:cs typeface="Times New Roman" panose="02020603050405020304" pitchFamily="18" charset="0"/>
              </a:rPr>
              <a:t>: 2022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290"/>
            <a:ext cx="8229600" cy="690245"/>
          </a:xfrm>
        </p:spPr>
        <p:txBody>
          <a:bodyPr>
            <a:normAutofit fontScale="90000"/>
          </a:bodyPr>
          <a:lstStyle/>
          <a:p>
            <a:r>
              <a:rPr lang="en-IN" b="1" dirty="0">
                <a:latin typeface="Times New Roman" panose="02020603050405020304" pitchFamily="18" charset="0"/>
                <a:cs typeface="Times New Roman" panose="02020603050405020304" pitchFamily="18" charset="0"/>
                <a:sym typeface="+mn-ea"/>
              </a:rPr>
              <a:t>LITERATURE SURVEY</a:t>
            </a:r>
            <a:endParaRPr lang="en-GB" altLang="en-US"/>
          </a:p>
        </p:txBody>
      </p:sp>
      <p:sp>
        <p:nvSpPr>
          <p:cNvPr id="3" name="Content Placeholder 2"/>
          <p:cNvSpPr>
            <a:spLocks noGrp="1"/>
          </p:cNvSpPr>
          <p:nvPr>
            <p:ph idx="1"/>
          </p:nvPr>
        </p:nvSpPr>
        <p:spPr>
          <a:xfrm>
            <a:off x="81915" y="593725"/>
            <a:ext cx="9001760" cy="6208395"/>
          </a:xfrm>
        </p:spPr>
        <p:txBody>
          <a:bodyPr>
            <a:normAutofit fontScale="90000"/>
          </a:bodyPr>
          <a:lstStyle/>
          <a:p>
            <a:pPr marL="0" indent="0">
              <a:buNone/>
            </a:pPr>
            <a:r>
              <a:rPr lang="en-GB" altLang="en-US" dirty="0"/>
              <a:t>7.</a:t>
            </a:r>
            <a:r>
              <a:rPr lang="en-US" altLang="en-GB" sz="2220" b="1" dirty="0">
                <a:latin typeface="Times New Roman" panose="02020603050405020304" pitchFamily="18" charset="0"/>
                <a:cs typeface="Times New Roman" panose="02020603050405020304" pitchFamily="18" charset="0"/>
              </a:rPr>
              <a:t>Title:</a:t>
            </a:r>
            <a:r>
              <a:rPr lang="en-US" altLang="en-GB" sz="2220" dirty="0">
                <a:latin typeface="Times New Roman" panose="02020603050405020304" pitchFamily="18" charset="0"/>
                <a:cs typeface="Times New Roman" panose="02020603050405020304" pitchFamily="18" charset="0"/>
              </a:rPr>
              <a:t> Next generation home automation system based on voice recognition</a:t>
            </a:r>
          </a:p>
          <a:p>
            <a:pPr marL="0" indent="0">
              <a:buNone/>
            </a:pPr>
            <a:r>
              <a:rPr lang="en-US" altLang="en-GB" sz="2220" b="1" dirty="0">
                <a:latin typeface="Times New Roman" panose="02020603050405020304" pitchFamily="18" charset="0"/>
                <a:cs typeface="Times New Roman" panose="02020603050405020304" pitchFamily="18" charset="0"/>
              </a:rPr>
              <a:t>Author</a:t>
            </a:r>
            <a:r>
              <a:rPr lang="en-US" altLang="en-GB" sz="2220" dirty="0">
                <a:latin typeface="Times New Roman" panose="02020603050405020304" pitchFamily="18" charset="0"/>
                <a:cs typeface="Times New Roman" panose="02020603050405020304" pitchFamily="18" charset="0"/>
              </a:rPr>
              <a:t>: .</a:t>
            </a:r>
            <a:r>
              <a:rPr lang="en-US" altLang="en-GB" sz="2220" dirty="0" err="1">
                <a:latin typeface="Times New Roman" panose="02020603050405020304" pitchFamily="18" charset="0"/>
                <a:cs typeface="Times New Roman" panose="02020603050405020304" pitchFamily="18" charset="0"/>
              </a:rPr>
              <a:t>Elsokah</a:t>
            </a:r>
            <a:r>
              <a:rPr lang="en-US" altLang="en-GB" sz="2220" dirty="0">
                <a:latin typeface="Times New Roman" panose="02020603050405020304" pitchFamily="18" charset="0"/>
                <a:cs typeface="Times New Roman" panose="02020603050405020304" pitchFamily="18" charset="0"/>
              </a:rPr>
              <a:t>, M.M.; Saleh, H.H.; Ze, A.R.</a:t>
            </a:r>
          </a:p>
          <a:p>
            <a:pPr marL="0" indent="0">
              <a:buNone/>
            </a:pPr>
            <a:r>
              <a:rPr lang="en-US" altLang="en-GB" sz="2220" b="1" dirty="0">
                <a:latin typeface="Times New Roman" panose="02020603050405020304" pitchFamily="18" charset="0"/>
                <a:cs typeface="Times New Roman" panose="02020603050405020304" pitchFamily="18" charset="0"/>
              </a:rPr>
              <a:t>Techniques</a:t>
            </a:r>
            <a:r>
              <a:rPr lang="en-US" altLang="en-GB" sz="2220" dirty="0">
                <a:latin typeface="Times New Roman" panose="02020603050405020304" pitchFamily="18" charset="0"/>
                <a:cs typeface="Times New Roman" panose="02020603050405020304" pitchFamily="18" charset="0"/>
              </a:rPr>
              <a:t>: Voice Command </a:t>
            </a:r>
            <a:r>
              <a:rPr lang="en-US" altLang="en-GB" sz="2220" dirty="0" err="1">
                <a:latin typeface="Times New Roman" panose="02020603050405020304" pitchFamily="18" charset="0"/>
                <a:cs typeface="Times New Roman" panose="02020603050405020304" pitchFamily="18" charset="0"/>
              </a:rPr>
              <a:t>Parsing,Local</a:t>
            </a:r>
            <a:r>
              <a:rPr lang="en-US" altLang="en-GB" sz="2220" dirty="0">
                <a:latin typeface="Times New Roman" panose="02020603050405020304" pitchFamily="18" charset="0"/>
                <a:cs typeface="Times New Roman" panose="02020603050405020304" pitchFamily="18" charset="0"/>
              </a:rPr>
              <a:t> vs Cloud-Based Voice </a:t>
            </a:r>
            <a:r>
              <a:rPr lang="en-US" altLang="en-GB" sz="2220" dirty="0" err="1">
                <a:latin typeface="Times New Roman" panose="02020603050405020304" pitchFamily="18" charset="0"/>
                <a:cs typeface="Times New Roman" panose="02020603050405020304" pitchFamily="18" charset="0"/>
              </a:rPr>
              <a:t>Recognition,Edge</a:t>
            </a:r>
            <a:r>
              <a:rPr lang="en-US" altLang="en-GB" sz="2220" dirty="0">
                <a:latin typeface="Times New Roman" panose="02020603050405020304" pitchFamily="18" charset="0"/>
                <a:cs typeface="Times New Roman" panose="02020603050405020304" pitchFamily="18" charset="0"/>
              </a:rPr>
              <a:t> Computing</a:t>
            </a:r>
          </a:p>
          <a:p>
            <a:pPr marL="0" indent="0">
              <a:buNone/>
            </a:pPr>
            <a:r>
              <a:rPr lang="en-US" altLang="en-GB" sz="2220" b="1" dirty="0" err="1">
                <a:latin typeface="Times New Roman" panose="02020603050405020304" pitchFamily="18" charset="0"/>
                <a:cs typeface="Times New Roman" panose="02020603050405020304" pitchFamily="18" charset="0"/>
              </a:rPr>
              <a:t>Parameters</a:t>
            </a:r>
            <a:r>
              <a:rPr lang="en-US" altLang="en-GB" sz="2220" dirty="0" err="1">
                <a:latin typeface="Times New Roman" panose="02020603050405020304" pitchFamily="18" charset="0"/>
                <a:cs typeface="Times New Roman" panose="02020603050405020304" pitchFamily="18" charset="0"/>
              </a:rPr>
              <a:t>:Accuracy</a:t>
            </a:r>
            <a:r>
              <a:rPr lang="en-US" altLang="en-GB" sz="2220" dirty="0">
                <a:latin typeface="Times New Roman" panose="02020603050405020304" pitchFamily="18" charset="0"/>
                <a:cs typeface="Times New Roman" panose="02020603050405020304" pitchFamily="18" charset="0"/>
              </a:rPr>
              <a:t> and </a:t>
            </a:r>
            <a:r>
              <a:rPr lang="en-US" altLang="en-GB" sz="2220" dirty="0" err="1">
                <a:latin typeface="Times New Roman" panose="02020603050405020304" pitchFamily="18" charset="0"/>
                <a:cs typeface="Times New Roman" panose="02020603050405020304" pitchFamily="18" charset="0"/>
              </a:rPr>
              <a:t>Reliability,Privacy</a:t>
            </a:r>
            <a:r>
              <a:rPr lang="en-US" altLang="en-GB" sz="2220" dirty="0">
                <a:latin typeface="Times New Roman" panose="02020603050405020304" pitchFamily="18" charset="0"/>
                <a:cs typeface="Times New Roman" panose="02020603050405020304" pitchFamily="18" charset="0"/>
              </a:rPr>
              <a:t> and Data Security</a:t>
            </a:r>
          </a:p>
          <a:p>
            <a:pPr marL="0" indent="0">
              <a:buNone/>
            </a:pPr>
            <a:r>
              <a:rPr lang="en-US" altLang="en-GB" sz="2220" b="1" dirty="0">
                <a:latin typeface="Times New Roman" panose="02020603050405020304" pitchFamily="18" charset="0"/>
                <a:cs typeface="Times New Roman" panose="02020603050405020304" pitchFamily="18" charset="0"/>
              </a:rPr>
              <a:t>Drawbacks</a:t>
            </a:r>
            <a:r>
              <a:rPr lang="en-US" altLang="en-GB" sz="2220" dirty="0">
                <a:latin typeface="Times New Roman" panose="02020603050405020304" pitchFamily="18" charset="0"/>
                <a:cs typeface="Times New Roman" panose="02020603050405020304" pitchFamily="18" charset="0"/>
              </a:rPr>
              <a:t>: Limited Contextual </a:t>
            </a:r>
            <a:r>
              <a:rPr lang="en-US" altLang="en-GB" sz="2220" dirty="0" err="1">
                <a:latin typeface="Times New Roman" panose="02020603050405020304" pitchFamily="18" charset="0"/>
                <a:cs typeface="Times New Roman" panose="02020603050405020304" pitchFamily="18" charset="0"/>
              </a:rPr>
              <a:t>Understanding,Dependency</a:t>
            </a:r>
            <a:r>
              <a:rPr lang="en-US" altLang="en-GB" sz="2220" dirty="0">
                <a:latin typeface="Times New Roman" panose="02020603050405020304" pitchFamily="18" charset="0"/>
                <a:cs typeface="Times New Roman" panose="02020603050405020304" pitchFamily="18" charset="0"/>
              </a:rPr>
              <a:t> on Internet Connectivity</a:t>
            </a:r>
          </a:p>
          <a:p>
            <a:pPr marL="0" indent="0">
              <a:buNone/>
            </a:pPr>
            <a:r>
              <a:rPr lang="en-US" altLang="en-GB" sz="2220" b="1" dirty="0">
                <a:latin typeface="Times New Roman" panose="02020603050405020304" pitchFamily="18" charset="0"/>
                <a:cs typeface="Times New Roman" panose="02020603050405020304" pitchFamily="18" charset="0"/>
              </a:rPr>
              <a:t>Year</a:t>
            </a:r>
            <a:r>
              <a:rPr lang="en-US" altLang="en-GB" sz="2220" dirty="0">
                <a:latin typeface="Times New Roman" panose="02020603050405020304" pitchFamily="18" charset="0"/>
                <a:cs typeface="Times New Roman" panose="02020603050405020304" pitchFamily="18" charset="0"/>
              </a:rPr>
              <a:t>: 2020</a:t>
            </a:r>
          </a:p>
          <a:p>
            <a:pPr marL="0" indent="0">
              <a:buNone/>
            </a:pPr>
            <a:endParaRPr lang="en-US" altLang="en-GB" sz="2000" b="1" dirty="0">
              <a:latin typeface="Times New Roman" panose="02020603050405020304" pitchFamily="18" charset="0"/>
              <a:cs typeface="Times New Roman" panose="02020603050405020304" pitchFamily="18" charset="0"/>
            </a:endParaRPr>
          </a:p>
          <a:p>
            <a:pPr marL="0" indent="0">
              <a:buNone/>
            </a:pPr>
            <a:r>
              <a:rPr lang="en-GB" altLang="en-US" sz="2570" b="1" dirty="0">
                <a:latin typeface="Times New Roman" panose="02020603050405020304" pitchFamily="18" charset="0"/>
                <a:cs typeface="Times New Roman" panose="02020603050405020304" pitchFamily="18" charset="0"/>
              </a:rPr>
              <a:t>8.</a:t>
            </a:r>
            <a:r>
              <a:rPr lang="en-US" altLang="en-GB" sz="2220" b="1" dirty="0">
                <a:latin typeface="Times New Roman" panose="02020603050405020304" pitchFamily="18" charset="0"/>
                <a:cs typeface="Times New Roman" panose="02020603050405020304" pitchFamily="18" charset="0"/>
              </a:rPr>
              <a:t>Title</a:t>
            </a:r>
            <a:r>
              <a:rPr lang="en-US" altLang="en-GB" sz="2220" dirty="0">
                <a:latin typeface="Times New Roman" panose="02020603050405020304" pitchFamily="18" charset="0"/>
                <a:cs typeface="Times New Roman" panose="02020603050405020304" pitchFamily="18" charset="0"/>
              </a:rPr>
              <a:t>: Implementation and recent progress in cloud-based smart home automation systems</a:t>
            </a:r>
          </a:p>
          <a:p>
            <a:pPr marL="0" indent="0">
              <a:buNone/>
            </a:pPr>
            <a:r>
              <a:rPr lang="en-US" altLang="en-GB" sz="2220" b="1" dirty="0">
                <a:latin typeface="Times New Roman" panose="02020603050405020304" pitchFamily="18" charset="0"/>
                <a:cs typeface="Times New Roman" panose="02020603050405020304" pitchFamily="18" charset="0"/>
              </a:rPr>
              <a:t>Author</a:t>
            </a:r>
            <a:r>
              <a:rPr lang="en-US" altLang="en-GB" sz="2220" dirty="0">
                <a:latin typeface="Times New Roman" panose="02020603050405020304" pitchFamily="18" charset="0"/>
                <a:cs typeface="Times New Roman" panose="02020603050405020304" pitchFamily="18" charset="0"/>
              </a:rPr>
              <a:t>: </a:t>
            </a:r>
            <a:r>
              <a:rPr lang="en-US" altLang="en-GB" sz="2220" dirty="0" err="1">
                <a:latin typeface="Times New Roman" panose="02020603050405020304" pitchFamily="18" charset="0"/>
                <a:cs typeface="Times New Roman" panose="02020603050405020304" pitchFamily="18" charset="0"/>
              </a:rPr>
              <a:t>Katuk</a:t>
            </a:r>
            <a:r>
              <a:rPr lang="en-US" altLang="en-GB" sz="2220" dirty="0">
                <a:latin typeface="Times New Roman" panose="02020603050405020304" pitchFamily="18" charset="0"/>
                <a:cs typeface="Times New Roman" panose="02020603050405020304" pitchFamily="18" charset="0"/>
              </a:rPr>
              <a:t>, N.; Ku-</a:t>
            </a:r>
            <a:r>
              <a:rPr lang="en-US" altLang="en-GB" sz="2220" dirty="0" err="1">
                <a:latin typeface="Times New Roman" panose="02020603050405020304" pitchFamily="18" charset="0"/>
                <a:cs typeface="Times New Roman" panose="02020603050405020304" pitchFamily="18" charset="0"/>
              </a:rPr>
              <a:t>Mahamud</a:t>
            </a:r>
            <a:r>
              <a:rPr lang="en-US" altLang="en-GB" sz="2220" dirty="0">
                <a:latin typeface="Times New Roman" panose="02020603050405020304" pitchFamily="18" charset="0"/>
                <a:cs typeface="Times New Roman" panose="02020603050405020304" pitchFamily="18" charset="0"/>
              </a:rPr>
              <a:t>, K.R.; Zakaria, N.H.; </a:t>
            </a:r>
            <a:r>
              <a:rPr lang="en-US" altLang="en-GB" sz="2220" dirty="0" err="1">
                <a:latin typeface="Times New Roman" panose="02020603050405020304" pitchFamily="18" charset="0"/>
                <a:cs typeface="Times New Roman" panose="02020603050405020304" pitchFamily="18" charset="0"/>
              </a:rPr>
              <a:t>Maarof</a:t>
            </a:r>
            <a:r>
              <a:rPr lang="en-US" altLang="en-GB" sz="2220" dirty="0">
                <a:latin typeface="Times New Roman" panose="02020603050405020304" pitchFamily="18" charset="0"/>
                <a:cs typeface="Times New Roman" panose="02020603050405020304" pitchFamily="18" charset="0"/>
              </a:rPr>
              <a:t>, M.A</a:t>
            </a:r>
          </a:p>
          <a:p>
            <a:pPr marL="0" indent="0">
              <a:buNone/>
            </a:pPr>
            <a:r>
              <a:rPr lang="en-US" altLang="en-GB" sz="2220" b="1" dirty="0">
                <a:latin typeface="Times New Roman" panose="02020603050405020304" pitchFamily="18" charset="0"/>
                <a:cs typeface="Times New Roman" panose="02020603050405020304" pitchFamily="18" charset="0"/>
              </a:rPr>
              <a:t>Techniques</a:t>
            </a:r>
            <a:r>
              <a:rPr lang="en-US" altLang="en-GB" sz="2220" dirty="0">
                <a:latin typeface="Times New Roman" panose="02020603050405020304" pitchFamily="18" charset="0"/>
                <a:cs typeface="Times New Roman" panose="02020603050405020304" pitchFamily="18" charset="0"/>
              </a:rPr>
              <a:t>: Cloud Computing </a:t>
            </a:r>
            <a:r>
              <a:rPr lang="en-US" altLang="en-GB" sz="2220" dirty="0" err="1">
                <a:latin typeface="Times New Roman" panose="02020603050405020304" pitchFamily="18" charset="0"/>
                <a:cs typeface="Times New Roman" panose="02020603050405020304" pitchFamily="18" charset="0"/>
              </a:rPr>
              <a:t>Infrastructure,Internet</a:t>
            </a:r>
            <a:r>
              <a:rPr lang="en-US" altLang="en-GB" sz="2220" dirty="0">
                <a:latin typeface="Times New Roman" panose="02020603050405020304" pitchFamily="18" charset="0"/>
                <a:cs typeface="Times New Roman" panose="02020603050405020304" pitchFamily="18" charset="0"/>
              </a:rPr>
              <a:t> of Things (IoT) Integration</a:t>
            </a:r>
          </a:p>
          <a:p>
            <a:pPr marL="0" indent="0">
              <a:buNone/>
            </a:pPr>
            <a:r>
              <a:rPr lang="en-US" altLang="en-GB" sz="2220" b="1" dirty="0">
                <a:latin typeface="Times New Roman" panose="02020603050405020304" pitchFamily="18" charset="0"/>
                <a:cs typeface="Times New Roman" panose="02020603050405020304" pitchFamily="18" charset="0"/>
              </a:rPr>
              <a:t>Parameters</a:t>
            </a:r>
            <a:r>
              <a:rPr lang="en-US" altLang="en-GB" sz="2220" dirty="0">
                <a:latin typeface="Times New Roman" panose="02020603050405020304" pitchFamily="18" charset="0"/>
                <a:cs typeface="Times New Roman" panose="02020603050405020304" pitchFamily="18" charset="0"/>
              </a:rPr>
              <a:t>: IoT Devices and </a:t>
            </a:r>
            <a:r>
              <a:rPr lang="en-US" altLang="en-GB" sz="2220" dirty="0" err="1">
                <a:latin typeface="Times New Roman" panose="02020603050405020304" pitchFamily="18" charset="0"/>
                <a:cs typeface="Times New Roman" panose="02020603050405020304" pitchFamily="18" charset="0"/>
              </a:rPr>
              <a:t>Sensors,Communication</a:t>
            </a:r>
            <a:r>
              <a:rPr lang="en-US" altLang="en-GB" sz="2220" dirty="0">
                <a:latin typeface="Times New Roman" panose="02020603050405020304" pitchFamily="18" charset="0"/>
                <a:cs typeface="Times New Roman" panose="02020603050405020304" pitchFamily="18" charset="0"/>
              </a:rPr>
              <a:t> </a:t>
            </a:r>
            <a:r>
              <a:rPr lang="en-US" altLang="en-GB" sz="2220" dirty="0" err="1">
                <a:latin typeface="Times New Roman" panose="02020603050405020304" pitchFamily="18" charset="0"/>
                <a:cs typeface="Times New Roman" panose="02020603050405020304" pitchFamily="18" charset="0"/>
              </a:rPr>
              <a:t>Protocols,Data</a:t>
            </a:r>
            <a:r>
              <a:rPr lang="en-US" altLang="en-GB" sz="2220" dirty="0">
                <a:latin typeface="Times New Roman" panose="02020603050405020304" pitchFamily="18" charset="0"/>
                <a:cs typeface="Times New Roman" panose="02020603050405020304" pitchFamily="18" charset="0"/>
              </a:rPr>
              <a:t> Analytics</a:t>
            </a:r>
          </a:p>
          <a:p>
            <a:pPr marL="0" indent="0">
              <a:buNone/>
            </a:pPr>
            <a:r>
              <a:rPr lang="en-US" altLang="en-GB" sz="2220" b="1" dirty="0">
                <a:latin typeface="Times New Roman" panose="02020603050405020304" pitchFamily="18" charset="0"/>
                <a:cs typeface="Times New Roman" panose="02020603050405020304" pitchFamily="18" charset="0"/>
              </a:rPr>
              <a:t>Drawbacks</a:t>
            </a:r>
            <a:r>
              <a:rPr lang="en-US" altLang="en-GB" sz="2220" dirty="0">
                <a:latin typeface="Times New Roman" panose="02020603050405020304" pitchFamily="18" charset="0"/>
                <a:cs typeface="Times New Roman" panose="02020603050405020304" pitchFamily="18" charset="0"/>
              </a:rPr>
              <a:t>: Security and Privacy </a:t>
            </a:r>
            <a:r>
              <a:rPr lang="en-US" altLang="en-GB" sz="2220" dirty="0" err="1">
                <a:latin typeface="Times New Roman" panose="02020603050405020304" pitchFamily="18" charset="0"/>
                <a:cs typeface="Times New Roman" panose="02020603050405020304" pitchFamily="18" charset="0"/>
              </a:rPr>
              <a:t>Concerns,Dependence</a:t>
            </a:r>
            <a:r>
              <a:rPr lang="en-US" altLang="en-GB" sz="2220" dirty="0">
                <a:latin typeface="Times New Roman" panose="02020603050405020304" pitchFamily="18" charset="0"/>
                <a:cs typeface="Times New Roman" panose="02020603050405020304" pitchFamily="18" charset="0"/>
              </a:rPr>
              <a:t> on Internet </a:t>
            </a:r>
            <a:r>
              <a:rPr lang="en-US" altLang="en-GB" sz="2220" dirty="0" err="1">
                <a:latin typeface="Times New Roman" panose="02020603050405020304" pitchFamily="18" charset="0"/>
                <a:cs typeface="Times New Roman" panose="02020603050405020304" pitchFamily="18" charset="0"/>
              </a:rPr>
              <a:t>Connectivity,Cost</a:t>
            </a:r>
            <a:endParaRPr lang="en-US" altLang="en-GB" sz="2220" dirty="0">
              <a:latin typeface="Times New Roman" panose="02020603050405020304" pitchFamily="18" charset="0"/>
              <a:cs typeface="Times New Roman" panose="02020603050405020304" pitchFamily="18" charset="0"/>
            </a:endParaRPr>
          </a:p>
          <a:p>
            <a:pPr marL="0" indent="0">
              <a:buNone/>
            </a:pPr>
            <a:r>
              <a:rPr lang="en-US" altLang="en-GB" sz="2220" b="1" dirty="0">
                <a:latin typeface="Times New Roman" panose="02020603050405020304" pitchFamily="18" charset="0"/>
                <a:cs typeface="Times New Roman" panose="02020603050405020304" pitchFamily="18" charset="0"/>
              </a:rPr>
              <a:t>Year of published</a:t>
            </a:r>
            <a:r>
              <a:rPr lang="en-US" altLang="en-GB" sz="2220" dirty="0">
                <a:latin typeface="Times New Roman" panose="02020603050405020304" pitchFamily="18" charset="0"/>
                <a:cs typeface="Times New Roman" panose="02020603050405020304" pitchFamily="18" charset="0"/>
              </a:rPr>
              <a:t>: 2018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35"/>
            <a:ext cx="8229600" cy="688340"/>
          </a:xfrm>
        </p:spPr>
        <p:txBody>
          <a:bodyPr>
            <a:normAutofit fontScale="90000"/>
          </a:bodyPr>
          <a:lstStyle/>
          <a:p>
            <a:r>
              <a:rPr lang="en-IN" b="1" dirty="0">
                <a:latin typeface="Times New Roman" panose="02020603050405020304" pitchFamily="18" charset="0"/>
                <a:cs typeface="Times New Roman" panose="02020603050405020304" pitchFamily="18" charset="0"/>
                <a:sym typeface="+mn-ea"/>
              </a:rPr>
              <a:t>LITERATURE SURVEY</a:t>
            </a:r>
            <a:endParaRPr lang="en-GB" altLang="en-US"/>
          </a:p>
        </p:txBody>
      </p:sp>
      <p:sp>
        <p:nvSpPr>
          <p:cNvPr id="3" name="Content Placeholder 2"/>
          <p:cNvSpPr>
            <a:spLocks noGrp="1"/>
          </p:cNvSpPr>
          <p:nvPr>
            <p:ph idx="1"/>
          </p:nvPr>
        </p:nvSpPr>
        <p:spPr>
          <a:xfrm>
            <a:off x="76200" y="688975"/>
            <a:ext cx="8995410" cy="6109970"/>
          </a:xfrm>
        </p:spPr>
        <p:txBody>
          <a:bodyPr>
            <a:normAutofit lnSpcReduction="10000"/>
          </a:bodyPr>
          <a:lstStyle/>
          <a:p>
            <a:pPr marL="0" indent="0">
              <a:buNone/>
            </a:pPr>
            <a:r>
              <a:rPr lang="en-GB" altLang="en-US" sz="2000" dirty="0">
                <a:latin typeface="Times New Roman" panose="02020603050405020304" pitchFamily="18" charset="0"/>
                <a:cs typeface="Times New Roman" panose="02020603050405020304" pitchFamily="18" charset="0"/>
              </a:rPr>
              <a:t>9.</a:t>
            </a:r>
            <a:r>
              <a:rPr lang="en-US" altLang="en-GB" sz="2000" b="1" dirty="0" err="1">
                <a:latin typeface="Times New Roman" panose="02020603050405020304" pitchFamily="18" charset="0"/>
                <a:cs typeface="Times New Roman" panose="02020603050405020304" pitchFamily="18" charset="0"/>
              </a:rPr>
              <a:t>Title</a:t>
            </a:r>
            <a:r>
              <a:rPr lang="en-US" altLang="en-GB" sz="2000" dirty="0" err="1">
                <a:latin typeface="Times New Roman" panose="02020603050405020304" pitchFamily="18" charset="0"/>
                <a:cs typeface="Times New Roman" panose="02020603050405020304" pitchFamily="18" charset="0"/>
              </a:rPr>
              <a:t>:</a:t>
            </a:r>
            <a:r>
              <a:rPr lang="en-US" altLang="en-GB" sz="2400" dirty="0" err="1">
                <a:latin typeface="Times New Roman" panose="02020603050405020304" pitchFamily="18" charset="0"/>
                <a:cs typeface="Times New Roman" panose="02020603050405020304" pitchFamily="18" charset="0"/>
              </a:rPr>
              <a:t>Approach</a:t>
            </a:r>
            <a:r>
              <a:rPr lang="en-US" altLang="en-GB" sz="2400" dirty="0">
                <a:latin typeface="Times New Roman" panose="02020603050405020304" pitchFamily="18" charset="0"/>
                <a:cs typeface="Times New Roman" panose="02020603050405020304" pitchFamily="18" charset="0"/>
              </a:rPr>
              <a:t> to secure internet of things applications using MQTT</a:t>
            </a:r>
            <a:r>
              <a:rPr lang="en-GB" altLang="en-US" sz="2400" dirty="0">
                <a:latin typeface="Times New Roman" panose="02020603050405020304" pitchFamily="18" charset="0"/>
                <a:cs typeface="Times New Roman" panose="02020603050405020304" pitchFamily="18" charset="0"/>
              </a:rPr>
              <a:t> </a:t>
            </a:r>
            <a:r>
              <a:rPr lang="en-US" altLang="en-GB" sz="2400" dirty="0">
                <a:latin typeface="Times New Roman" panose="02020603050405020304" pitchFamily="18" charset="0"/>
                <a:cs typeface="Times New Roman" panose="02020603050405020304" pitchFamily="18" charset="0"/>
              </a:rPr>
              <a:t>protocol	</a:t>
            </a:r>
          </a:p>
          <a:p>
            <a:pPr marL="0" indent="0">
              <a:buNone/>
            </a:pPr>
            <a:r>
              <a:rPr lang="en-US" altLang="en-GB" sz="2000" b="1" dirty="0">
                <a:latin typeface="Times New Roman" panose="02020603050405020304" pitchFamily="18" charset="0"/>
                <a:cs typeface="Times New Roman" panose="02020603050405020304" pitchFamily="18" charset="0"/>
              </a:rPr>
              <a:t>Year</a:t>
            </a:r>
            <a:r>
              <a:rPr lang="en-US" altLang="en-GB" sz="2000" dirty="0">
                <a:latin typeface="Times New Roman" panose="02020603050405020304" pitchFamily="18" charset="0"/>
                <a:cs typeface="Times New Roman" panose="02020603050405020304" pitchFamily="18" charset="0"/>
              </a:rPr>
              <a:t> </a:t>
            </a:r>
            <a:r>
              <a:rPr lang="en-US" altLang="en-GB" sz="2000" b="1" dirty="0">
                <a:latin typeface="Times New Roman" panose="02020603050405020304" pitchFamily="18" charset="0"/>
                <a:cs typeface="Times New Roman" panose="02020603050405020304" pitchFamily="18" charset="0"/>
              </a:rPr>
              <a:t>of published</a:t>
            </a:r>
            <a:r>
              <a:rPr lang="en-US" altLang="en-GB" sz="2400" dirty="0">
                <a:latin typeface="Times New Roman" panose="02020603050405020304" pitchFamily="18" charset="0"/>
                <a:cs typeface="Times New Roman" panose="02020603050405020304" pitchFamily="18" charset="0"/>
              </a:rPr>
              <a:t>:2021</a:t>
            </a:r>
          </a:p>
          <a:p>
            <a:pPr marL="0" indent="0">
              <a:buNone/>
            </a:pPr>
            <a:r>
              <a:rPr lang="en-US" altLang="en-GB" sz="2000" b="1" dirty="0" err="1">
                <a:latin typeface="Times New Roman" panose="02020603050405020304" pitchFamily="18" charset="0"/>
                <a:cs typeface="Times New Roman" panose="02020603050405020304" pitchFamily="18" charset="0"/>
              </a:rPr>
              <a:t>Techniques</a:t>
            </a:r>
            <a:r>
              <a:rPr lang="en-US" altLang="en-GB" sz="2400" dirty="0" err="1">
                <a:latin typeface="Times New Roman" panose="02020603050405020304" pitchFamily="18" charset="0"/>
                <a:cs typeface="Times New Roman" panose="02020603050405020304" pitchFamily="18" charset="0"/>
              </a:rPr>
              <a:t>:secure</a:t>
            </a:r>
            <a:r>
              <a:rPr lang="en-US" altLang="en-GB" sz="2400" dirty="0">
                <a:latin typeface="Times New Roman" panose="02020603050405020304" pitchFamily="18" charset="0"/>
                <a:cs typeface="Times New Roman" panose="02020603050405020304" pitchFamily="18" charset="0"/>
              </a:rPr>
              <a:t> IoT application using MQTT protocol</a:t>
            </a:r>
          </a:p>
          <a:p>
            <a:pPr marL="0" indent="0">
              <a:buNone/>
            </a:pPr>
            <a:r>
              <a:rPr lang="en-US" altLang="en-GB" sz="2000" b="1" dirty="0" err="1">
                <a:latin typeface="Times New Roman" panose="02020603050405020304" pitchFamily="18" charset="0"/>
                <a:cs typeface="Times New Roman" panose="02020603050405020304" pitchFamily="18" charset="0"/>
              </a:rPr>
              <a:t>Parameters</a:t>
            </a:r>
            <a:r>
              <a:rPr lang="en-US" altLang="en-GB" sz="2400" dirty="0" err="1">
                <a:latin typeface="Times New Roman" panose="02020603050405020304" pitchFamily="18" charset="0"/>
                <a:cs typeface="Times New Roman" panose="02020603050405020304" pitchFamily="18" charset="0"/>
              </a:rPr>
              <a:t>:MQTT</a:t>
            </a:r>
            <a:r>
              <a:rPr lang="en-US" altLang="en-GB" sz="2400" dirty="0">
                <a:latin typeface="Times New Roman" panose="02020603050405020304" pitchFamily="18" charset="0"/>
                <a:cs typeface="Times New Roman" panose="02020603050405020304" pitchFamily="18" charset="0"/>
              </a:rPr>
              <a:t> </a:t>
            </a:r>
            <a:r>
              <a:rPr lang="en-US" altLang="en-GB" sz="2400" dirty="0" err="1">
                <a:latin typeface="Times New Roman" panose="02020603050405020304" pitchFamily="18" charset="0"/>
                <a:cs typeface="Times New Roman" panose="02020603050405020304" pitchFamily="18" charset="0"/>
              </a:rPr>
              <a:t>Protocol,Authentication,Encryption,Quality</a:t>
            </a:r>
            <a:r>
              <a:rPr lang="en-US" altLang="en-GB" sz="2400" dirty="0">
                <a:latin typeface="Times New Roman" panose="02020603050405020304" pitchFamily="18" charset="0"/>
                <a:cs typeface="Times New Roman" panose="02020603050405020304" pitchFamily="18" charset="0"/>
              </a:rPr>
              <a:t> of Service (QoS)</a:t>
            </a:r>
          </a:p>
          <a:p>
            <a:pPr marL="0" indent="0">
              <a:buNone/>
            </a:pPr>
            <a:r>
              <a:rPr lang="en-US" altLang="en-GB" sz="2000" b="1" dirty="0">
                <a:latin typeface="Times New Roman" panose="02020603050405020304" pitchFamily="18" charset="0"/>
                <a:cs typeface="Times New Roman" panose="02020603050405020304" pitchFamily="18" charset="0"/>
              </a:rPr>
              <a:t>Drawbacks</a:t>
            </a:r>
            <a:r>
              <a:rPr lang="en-US" altLang="en-GB" sz="2400" dirty="0">
                <a:latin typeface="Times New Roman" panose="02020603050405020304" pitchFamily="18" charset="0"/>
                <a:cs typeface="Times New Roman" panose="02020603050405020304" pitchFamily="18" charset="0"/>
              </a:rPr>
              <a:t>: Light weight and </a:t>
            </a:r>
            <a:r>
              <a:rPr lang="en-US" altLang="en-GB" sz="2400" dirty="0" err="1">
                <a:latin typeface="Times New Roman" panose="02020603050405020304" pitchFamily="18" charset="0"/>
                <a:cs typeface="Times New Roman" panose="02020603050405020304" pitchFamily="18" charset="0"/>
              </a:rPr>
              <a:t>Efficient,Flexible</a:t>
            </a:r>
            <a:r>
              <a:rPr lang="en-US" altLang="en-GB" sz="2400" dirty="0">
                <a:latin typeface="Times New Roman" panose="02020603050405020304" pitchFamily="18" charset="0"/>
                <a:cs typeface="Times New Roman" panose="02020603050405020304" pitchFamily="18" charset="0"/>
              </a:rPr>
              <a:t> Data </a:t>
            </a:r>
            <a:r>
              <a:rPr lang="en-US" altLang="en-GB" sz="2400" dirty="0" err="1">
                <a:latin typeface="Times New Roman" panose="02020603050405020304" pitchFamily="18" charset="0"/>
                <a:cs typeface="Times New Roman" panose="02020603050405020304" pitchFamily="18" charset="0"/>
              </a:rPr>
              <a:t>Handling,Interoperability,realtime</a:t>
            </a:r>
            <a:r>
              <a:rPr lang="en-US" altLang="en-GB" sz="2400" dirty="0">
                <a:latin typeface="Times New Roman" panose="02020603050405020304" pitchFamily="18" charset="0"/>
                <a:cs typeface="Times New Roman" panose="02020603050405020304" pitchFamily="18" charset="0"/>
              </a:rPr>
              <a:t> Communication</a:t>
            </a:r>
          </a:p>
          <a:p>
            <a:pPr marL="0" indent="0">
              <a:buNone/>
            </a:pPr>
            <a:endParaRPr lang="en-GB" altLang="en-US" sz="2400" b="1" dirty="0">
              <a:latin typeface="Times New Roman" panose="02020603050405020304" pitchFamily="18" charset="0"/>
              <a:cs typeface="Times New Roman" panose="02020603050405020304" pitchFamily="18" charset="0"/>
            </a:endParaRPr>
          </a:p>
          <a:p>
            <a:pPr marL="0" indent="0">
              <a:buNone/>
            </a:pPr>
            <a:r>
              <a:rPr lang="en-GB" altLang="en-US" sz="2400" dirty="0">
                <a:latin typeface="Times New Roman" panose="02020603050405020304" pitchFamily="18" charset="0"/>
                <a:cs typeface="Times New Roman" panose="02020603050405020304" pitchFamily="18" charset="0"/>
              </a:rPr>
              <a:t>10</a:t>
            </a:r>
            <a:r>
              <a:rPr lang="en-GB" altLang="en-US" sz="2400" b="1" dirty="0">
                <a:latin typeface="Times New Roman" panose="02020603050405020304" pitchFamily="18" charset="0"/>
                <a:cs typeface="Times New Roman" panose="02020603050405020304" pitchFamily="18" charset="0"/>
              </a:rPr>
              <a:t>.</a:t>
            </a:r>
            <a:r>
              <a:rPr lang="en-US" altLang="en-GB" sz="2000" b="1" dirty="0">
                <a:latin typeface="Times New Roman" panose="02020603050405020304" pitchFamily="18" charset="0"/>
                <a:cs typeface="Times New Roman" panose="02020603050405020304" pitchFamily="18" charset="0"/>
              </a:rPr>
              <a:t>Title</a:t>
            </a:r>
            <a:r>
              <a:rPr lang="en-US" altLang="en-GB" sz="2220" b="1" dirty="0">
                <a:latin typeface="Times New Roman" panose="02020603050405020304" pitchFamily="18" charset="0"/>
                <a:cs typeface="Times New Roman" panose="02020603050405020304" pitchFamily="18" charset="0"/>
              </a:rPr>
              <a:t>:</a:t>
            </a:r>
            <a:r>
              <a:rPr lang="en-US" altLang="en-GB" sz="2220" dirty="0">
                <a:latin typeface="Times New Roman" panose="02020603050405020304" pitchFamily="18" charset="0"/>
                <a:cs typeface="Times New Roman" panose="02020603050405020304" pitchFamily="18" charset="0"/>
              </a:rPr>
              <a:t> Review on Security in Bluetooth Low Energy Mesh Network in</a:t>
            </a:r>
          </a:p>
          <a:p>
            <a:pPr marL="0" indent="0">
              <a:buNone/>
            </a:pPr>
            <a:r>
              <a:rPr lang="en-US" altLang="en-GB" sz="2220" dirty="0">
                <a:latin typeface="Times New Roman" panose="02020603050405020304" pitchFamily="18" charset="0"/>
                <a:cs typeface="Times New Roman" panose="02020603050405020304" pitchFamily="18" charset="0"/>
              </a:rPr>
              <a:t>Correlation with Wireless Mesh Network Security	</a:t>
            </a:r>
          </a:p>
          <a:p>
            <a:pPr marL="0" indent="0">
              <a:buNone/>
            </a:pPr>
            <a:r>
              <a:rPr lang="en-US" altLang="en-GB" sz="2000" b="1" dirty="0">
                <a:latin typeface="Times New Roman" panose="02020603050405020304" pitchFamily="18" charset="0"/>
                <a:cs typeface="Times New Roman" panose="02020603050405020304" pitchFamily="18" charset="0"/>
              </a:rPr>
              <a:t>Year of published</a:t>
            </a:r>
            <a:r>
              <a:rPr lang="en-US" altLang="en-GB" sz="2220" dirty="0">
                <a:latin typeface="Times New Roman" panose="02020603050405020304" pitchFamily="18" charset="0"/>
                <a:cs typeface="Times New Roman" panose="02020603050405020304" pitchFamily="18" charset="0"/>
              </a:rPr>
              <a:t>:2019	</a:t>
            </a:r>
          </a:p>
          <a:p>
            <a:pPr marL="0" indent="0">
              <a:buNone/>
            </a:pPr>
            <a:r>
              <a:rPr lang="en-US" altLang="en-GB" sz="2000" b="1" dirty="0">
                <a:latin typeface="Times New Roman" panose="02020603050405020304" pitchFamily="18" charset="0"/>
                <a:cs typeface="Times New Roman" panose="02020603050405020304" pitchFamily="18" charset="0"/>
              </a:rPr>
              <a:t>Techniques</a:t>
            </a:r>
            <a:r>
              <a:rPr lang="en-US" altLang="en-GB" sz="2220" dirty="0">
                <a:latin typeface="Times New Roman" panose="02020603050405020304" pitchFamily="18" charset="0"/>
                <a:cs typeface="Times New Roman" panose="02020603050405020304" pitchFamily="18" charset="0"/>
              </a:rPr>
              <a:t>: security review of Bluetooth Low Energy mesh networks</a:t>
            </a:r>
          </a:p>
          <a:p>
            <a:pPr marL="0" indent="0">
              <a:buNone/>
            </a:pPr>
            <a:r>
              <a:rPr lang="en-US" altLang="en-GB" sz="2000" b="1" dirty="0">
                <a:latin typeface="Times New Roman" panose="02020603050405020304" pitchFamily="18" charset="0"/>
                <a:cs typeface="Times New Roman" panose="02020603050405020304" pitchFamily="18" charset="0"/>
              </a:rPr>
              <a:t>Parameters</a:t>
            </a:r>
            <a:r>
              <a:rPr lang="en-US" altLang="en-GB" sz="2220" dirty="0">
                <a:latin typeface="Times New Roman" panose="02020603050405020304" pitchFamily="18" charset="0"/>
                <a:cs typeface="Times New Roman" panose="02020603050405020304" pitchFamily="18" charset="0"/>
              </a:rPr>
              <a:t>: Mesh Networking </a:t>
            </a:r>
            <a:r>
              <a:rPr lang="en-US" altLang="en-GB" sz="2220" dirty="0" err="1">
                <a:latin typeface="Times New Roman" panose="02020603050405020304" pitchFamily="18" charset="0"/>
                <a:cs typeface="Times New Roman" panose="02020603050405020304" pitchFamily="18" charset="0"/>
              </a:rPr>
              <a:t>Topology,Security</a:t>
            </a:r>
            <a:r>
              <a:rPr lang="en-US" altLang="en-GB" sz="2220" dirty="0">
                <a:latin typeface="Times New Roman" panose="02020603050405020304" pitchFamily="18" charset="0"/>
                <a:cs typeface="Times New Roman" panose="02020603050405020304" pitchFamily="18" charset="0"/>
              </a:rPr>
              <a:t> </a:t>
            </a:r>
            <a:r>
              <a:rPr lang="en-US" altLang="en-GB" sz="2220" dirty="0" err="1">
                <a:latin typeface="Times New Roman" panose="02020603050405020304" pitchFamily="18" charset="0"/>
                <a:cs typeface="Times New Roman" panose="02020603050405020304" pitchFamily="18" charset="0"/>
              </a:rPr>
              <a:t>Mechanisms,Key</a:t>
            </a:r>
            <a:r>
              <a:rPr lang="en-US" altLang="en-GB" sz="2220" dirty="0">
                <a:latin typeface="Times New Roman" panose="02020603050405020304" pitchFamily="18" charset="0"/>
                <a:cs typeface="Times New Roman" panose="02020603050405020304" pitchFamily="18" charset="0"/>
              </a:rPr>
              <a:t> 	</a:t>
            </a:r>
          </a:p>
          <a:p>
            <a:pPr marL="0" indent="0">
              <a:buNone/>
            </a:pPr>
            <a:r>
              <a:rPr lang="en-US" altLang="en-GB" sz="2000" b="1" dirty="0">
                <a:latin typeface="Times New Roman" panose="02020603050405020304" pitchFamily="18" charset="0"/>
                <a:cs typeface="Times New Roman" panose="02020603050405020304" pitchFamily="18" charset="0"/>
              </a:rPr>
              <a:t>Drawbacks</a:t>
            </a:r>
            <a:r>
              <a:rPr lang="en-US" altLang="en-GB" sz="2220" dirty="0">
                <a:latin typeface="Times New Roman" panose="02020603050405020304" pitchFamily="18" charset="0"/>
                <a:cs typeface="Times New Roman" panose="02020603050405020304" pitchFamily="18" charset="0"/>
              </a:rPr>
              <a:t>: Enhanced </a:t>
            </a:r>
            <a:r>
              <a:rPr lang="en-US" altLang="en-GB" sz="2220" dirty="0" err="1">
                <a:latin typeface="Times New Roman" panose="02020603050405020304" pitchFamily="18" charset="0"/>
                <a:cs typeface="Times New Roman" panose="02020603050405020304" pitchFamily="18" charset="0"/>
              </a:rPr>
              <a:t>Coverage,Redundancy,Low</a:t>
            </a:r>
            <a:r>
              <a:rPr lang="en-US" altLang="en-GB" sz="2220" dirty="0">
                <a:latin typeface="Times New Roman" panose="02020603050405020304" pitchFamily="18" charset="0"/>
                <a:cs typeface="Times New Roman" panose="02020603050405020304" pitchFamily="18" charset="0"/>
              </a:rPr>
              <a:t> Energy Consumption, Security Features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862965"/>
          </a:xfrm>
        </p:spPr>
        <p:txBody>
          <a:bodyPr>
            <a:normAutofit fontScale="90000"/>
          </a:bodyPr>
          <a:lstStyle/>
          <a:p>
            <a:r>
              <a:rPr lang="en-US"/>
              <a:t>LITERATURE SURVEY</a:t>
            </a:r>
            <a:br>
              <a:rPr lang="en-US"/>
            </a:br>
            <a:endParaRPr lang="en-US"/>
          </a:p>
        </p:txBody>
      </p:sp>
      <p:graphicFrame>
        <p:nvGraphicFramePr>
          <p:cNvPr id="8" name="Content Placeholder 7"/>
          <p:cNvGraphicFramePr>
            <a:graphicFrameLocks noGrp="1"/>
          </p:cNvGraphicFramePr>
          <p:nvPr>
            <p:ph idx="1"/>
            <p:custDataLst>
              <p:tags r:id="rId1"/>
            </p:custDataLst>
            <p:extLst>
              <p:ext uri="{D42A27DB-BD31-4B8C-83A1-F6EECF244321}">
                <p14:modId xmlns:p14="http://schemas.microsoft.com/office/powerpoint/2010/main" val="1753758126"/>
              </p:ext>
            </p:extLst>
          </p:nvPr>
        </p:nvGraphicFramePr>
        <p:xfrm>
          <a:off x="0" y="609600"/>
          <a:ext cx="9067799" cy="6155055"/>
        </p:xfrm>
        <a:graphic>
          <a:graphicData uri="http://schemas.openxmlformats.org/drawingml/2006/table">
            <a:tbl>
              <a:tblPr firstRow="1" bandRow="1">
                <a:tableStyleId>{5C22544A-7EE6-4342-B048-85BDC9FD1C3A}</a:tableStyleId>
              </a:tblPr>
              <a:tblGrid>
                <a:gridCol w="530434">
                  <a:extLst>
                    <a:ext uri="{9D8B030D-6E8A-4147-A177-3AD203B41FA5}">
                      <a16:colId xmlns:a16="http://schemas.microsoft.com/office/drawing/2014/main" val="20000"/>
                    </a:ext>
                  </a:extLst>
                </a:gridCol>
                <a:gridCol w="2898395">
                  <a:extLst>
                    <a:ext uri="{9D8B030D-6E8A-4147-A177-3AD203B41FA5}">
                      <a16:colId xmlns:a16="http://schemas.microsoft.com/office/drawing/2014/main" val="20001"/>
                    </a:ext>
                  </a:extLst>
                </a:gridCol>
                <a:gridCol w="956746">
                  <a:extLst>
                    <a:ext uri="{9D8B030D-6E8A-4147-A177-3AD203B41FA5}">
                      <a16:colId xmlns:a16="http://schemas.microsoft.com/office/drawing/2014/main" val="20002"/>
                    </a:ext>
                  </a:extLst>
                </a:gridCol>
                <a:gridCol w="1558025">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gridCol w="1600199">
                  <a:extLst>
                    <a:ext uri="{9D8B030D-6E8A-4147-A177-3AD203B41FA5}">
                      <a16:colId xmlns:a16="http://schemas.microsoft.com/office/drawing/2014/main" val="20005"/>
                    </a:ext>
                  </a:extLst>
                </a:gridCol>
              </a:tblGrid>
              <a:tr h="1212108">
                <a:tc>
                  <a:txBody>
                    <a:bodyPr/>
                    <a:lstStyle/>
                    <a:p>
                      <a:r>
                        <a:rPr lang="en-US" sz="1600" dirty="0">
                          <a:latin typeface="Times New Roman" panose="02020603050405020304" pitchFamily="18" charset="0"/>
                          <a:cs typeface="Times New Roman" panose="02020603050405020304" pitchFamily="18" charset="0"/>
                        </a:rPr>
                        <a:t>S.No</a:t>
                      </a:r>
                    </a:p>
                  </a:txBody>
                  <a:tcPr/>
                </a:tc>
                <a:tc>
                  <a:txBody>
                    <a:bodyPr/>
                    <a:lstStyle/>
                    <a:p>
                      <a:pPr algn="ctr"/>
                      <a:endParaRPr lang="en-US" sz="1800" b="1" kern="1200" dirty="0">
                        <a:solidFill>
                          <a:schemeClr val="lt1"/>
                        </a:solidFill>
                        <a:latin typeface="Times New Roman" panose="02020603050405020304" pitchFamily="18" charset="0"/>
                        <a:ea typeface="+mn-ea"/>
                        <a:cs typeface="Times New Roman" panose="02020603050405020304" pitchFamily="18" charset="0"/>
                      </a:endParaRPr>
                    </a:p>
                    <a:p>
                      <a:pPr algn="ctr"/>
                      <a:r>
                        <a:rPr lang="en-US" sz="1800" b="1" kern="1200" dirty="0">
                          <a:solidFill>
                            <a:schemeClr val="lt1"/>
                          </a:solidFill>
                          <a:latin typeface="Times New Roman" panose="02020603050405020304" pitchFamily="18" charset="0"/>
                          <a:ea typeface="+mn-ea"/>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tc>
                <a:tc>
                  <a:txBody>
                    <a:bodyPr/>
                    <a:lstStyle/>
                    <a:p>
                      <a:endParaRPr lang="en-US" sz="1800" b="1" kern="1200" dirty="0">
                        <a:solidFill>
                          <a:schemeClr val="lt1"/>
                        </a:solidFill>
                        <a:latin typeface="Times New Roman" panose="02020603050405020304" pitchFamily="18" charset="0"/>
                        <a:ea typeface="+mn-ea"/>
                        <a:cs typeface="Times New Roman" panose="02020603050405020304" pitchFamily="18" charset="0"/>
                      </a:endParaRPr>
                    </a:p>
                    <a:p>
                      <a:r>
                        <a:rPr lang="en-US" sz="1800" b="1" kern="1200" dirty="0">
                          <a:solidFill>
                            <a:schemeClr val="lt1"/>
                          </a:solidFill>
                          <a:latin typeface="Times New Roman" panose="02020603050405020304" pitchFamily="18" charset="0"/>
                          <a:ea typeface="+mn-ea"/>
                          <a:cs typeface="Times New Roman" panose="02020603050405020304" pitchFamily="18" charset="0"/>
                        </a:rPr>
                        <a:t>Year of Publish</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Technique/Protocol/Method/Algorithm</a:t>
                      </a:r>
                    </a:p>
                  </a:txBody>
                  <a:tcPr/>
                </a:tc>
                <a:tc>
                  <a:txBody>
                    <a:bodyPr/>
                    <a:lstStyle/>
                    <a:p>
                      <a:pPr algn="ctr"/>
                      <a:r>
                        <a:rPr lang="en-US" sz="1800" b="1" kern="1200" dirty="0">
                          <a:solidFill>
                            <a:schemeClr val="lt1"/>
                          </a:solidFill>
                          <a:latin typeface="Times New Roman" panose="02020603050405020304" pitchFamily="18" charset="0"/>
                          <a:ea typeface="+mn-ea"/>
                          <a:cs typeface="Times New Roman" panose="02020603050405020304" pitchFamily="18" charset="0"/>
                        </a:rPr>
                        <a:t>Parameters</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sz="1800" b="1" kern="1200" dirty="0">
                          <a:solidFill>
                            <a:schemeClr val="lt1"/>
                          </a:solidFill>
                          <a:latin typeface="Times New Roman" panose="02020603050405020304" pitchFamily="18" charset="0"/>
                          <a:ea typeface="+mn-ea"/>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2051898">
                <a:tc>
                  <a:txBody>
                    <a:bodyPr/>
                    <a:lstStyle/>
                    <a:p>
                      <a:r>
                        <a:rPr lang="en-US" dirty="0"/>
                        <a:t>1</a:t>
                      </a:r>
                    </a:p>
                  </a:txBody>
                  <a:tcPr/>
                </a:tc>
                <a:tc>
                  <a:txBody>
                    <a:bodyPr/>
                    <a:lstStyle/>
                    <a:p>
                      <a:r>
                        <a:rPr lang="en-US" dirty="0"/>
                        <a:t>Implementation and recent progress in cloud-based smart home automation systems</a:t>
                      </a:r>
                    </a:p>
                  </a:txBody>
                  <a:tcPr/>
                </a:tc>
                <a:tc>
                  <a:txBody>
                    <a:bodyPr/>
                    <a:lstStyle/>
                    <a:p>
                      <a:endParaRPr lang="en-US" dirty="0"/>
                    </a:p>
                    <a:p>
                      <a:r>
                        <a:rPr lang="en-US" dirty="0"/>
                        <a:t>2018</a:t>
                      </a:r>
                    </a:p>
                  </a:txBody>
                  <a:tcPr/>
                </a:tc>
                <a:tc>
                  <a:txBody>
                    <a:bodyPr/>
                    <a:lstStyle/>
                    <a:p>
                      <a:r>
                        <a:rPr lang="en-US" sz="2000" dirty="0">
                          <a:effectLst/>
                          <a:latin typeface="Times New Roman" panose="02020603050405020304" pitchFamily="18" charset="0"/>
                          <a:cs typeface="Times New Roman" panose="02020603050405020304" pitchFamily="18" charset="0"/>
                          <a:sym typeface="+mn-ea"/>
                        </a:rPr>
                        <a:t>cloud-based smart home automation system</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txBody>
                  <a:tcPr/>
                </a:tc>
                <a:tc>
                  <a:txBody>
                    <a:bodyPr/>
                    <a:lstStyle/>
                    <a:p>
                      <a:r>
                        <a:rPr lang="en-US" dirty="0"/>
                        <a:t>Cloud</a:t>
                      </a:r>
                    </a:p>
                    <a:p>
                      <a:r>
                        <a:rPr lang="en-US" dirty="0"/>
                        <a:t>Infrastructure</a:t>
                      </a:r>
                    </a:p>
                    <a:p>
                      <a:r>
                        <a:rPr lang="en-US" dirty="0"/>
                        <a:t>Device, Artificial Intelligence (AI)</a:t>
                      </a:r>
                    </a:p>
                  </a:txBody>
                  <a:tcPr/>
                </a:tc>
                <a:tc>
                  <a:txBody>
                    <a:bodyPr/>
                    <a:lstStyle/>
                    <a:p>
                      <a:r>
                        <a:rPr lang="en-US" dirty="0"/>
                        <a:t>Access Data Storage and Analysis,</a:t>
                      </a:r>
                    </a:p>
                    <a:p>
                      <a:r>
                        <a:rPr lang="en-US" dirty="0"/>
                        <a:t>Collaboration</a:t>
                      </a:r>
                    </a:p>
                    <a:p>
                      <a:r>
                        <a:rPr lang="en-US" dirty="0"/>
                        <a:t>And</a:t>
                      </a:r>
                    </a:p>
                    <a:p>
                      <a:r>
                        <a:rPr lang="en-US" dirty="0"/>
                        <a:t>Integration</a:t>
                      </a:r>
                    </a:p>
                  </a:txBody>
                  <a:tcPr/>
                </a:tc>
                <a:extLst>
                  <a:ext uri="{0D108BD9-81ED-4DB2-BD59-A6C34878D82A}">
                    <a16:rowId xmlns:a16="http://schemas.microsoft.com/office/drawing/2014/main" val="10001"/>
                  </a:ext>
                </a:extLst>
              </a:tr>
              <a:tr h="2891049">
                <a:tc>
                  <a:txBody>
                    <a:bodyPr/>
                    <a:lstStyle/>
                    <a:p>
                      <a:r>
                        <a:rPr lang="en-US" dirty="0"/>
                        <a:t>2</a:t>
                      </a:r>
                    </a:p>
                  </a:txBody>
                  <a:tcPr/>
                </a:tc>
                <a:tc>
                  <a:txBody>
                    <a:bodyPr/>
                    <a:lstStyle/>
                    <a:p>
                      <a:r>
                        <a:rPr lang="en-US" dirty="0"/>
                        <a:t>Review on Security in Bluetooth Low Energy Mesh Network in Correlation with Wireless Mesh Network Security</a:t>
                      </a:r>
                    </a:p>
                  </a:txBody>
                  <a:tcPr/>
                </a:tc>
                <a:tc>
                  <a:txBody>
                    <a:bodyPr/>
                    <a:lstStyle/>
                    <a:p>
                      <a:endParaRPr lang="en-US"/>
                    </a:p>
                    <a:p>
                      <a:endParaRPr lang="en-US"/>
                    </a:p>
                    <a:p>
                      <a:r>
                        <a:rPr lang="en-US"/>
                        <a:t>2019</a:t>
                      </a:r>
                    </a:p>
                  </a:txBody>
                  <a:tcPr/>
                </a:tc>
                <a:tc>
                  <a:txBody>
                    <a:bodyPr/>
                    <a:lstStyle/>
                    <a:p>
                      <a:r>
                        <a:rPr lang="en-US" sz="1800">
                          <a:effectLst/>
                          <a:sym typeface="+mn-ea"/>
                        </a:rPr>
                        <a:t>security review of Bluetooth Low Energy mesh networks</a:t>
                      </a:r>
                      <a:endParaRPr lang="en-US" sz="1800" b="0" i="0" u="none" strike="noStrike">
                        <a:solidFill>
                          <a:srgbClr val="000000"/>
                        </a:solidFill>
                        <a:effectLst/>
                        <a:latin typeface="Calibri" panose="020F0502020204030204"/>
                      </a:endParaRPr>
                    </a:p>
                    <a:p>
                      <a:endParaRPr lang="en-US"/>
                    </a:p>
                  </a:txBody>
                  <a:tcPr/>
                </a:tc>
                <a:tc>
                  <a:txBody>
                    <a:bodyPr/>
                    <a:lstStyle/>
                    <a:p>
                      <a:r>
                        <a:rPr lang="en-US" dirty="0"/>
                        <a:t>Mesh Networking Topology,</a:t>
                      </a:r>
                    </a:p>
                    <a:p>
                      <a:r>
                        <a:rPr lang="en-US" dirty="0"/>
                        <a:t>Security </a:t>
                      </a:r>
                      <a:r>
                        <a:rPr lang="en-US" dirty="0" err="1"/>
                        <a:t>Mechanisms,Key</a:t>
                      </a:r>
                      <a:r>
                        <a:rPr lang="en-US" dirty="0"/>
                        <a:t> Distribution</a:t>
                      </a:r>
                    </a:p>
                    <a:p>
                      <a:endParaRPr lang="en-US" dirty="0"/>
                    </a:p>
                  </a:txBody>
                  <a:tcPr/>
                </a:tc>
                <a:tc>
                  <a:txBody>
                    <a:bodyPr/>
                    <a:lstStyle/>
                    <a:p>
                      <a:r>
                        <a:rPr lang="en-US" dirty="0"/>
                        <a:t>Enhanced Coverage,</a:t>
                      </a:r>
                    </a:p>
                    <a:p>
                      <a:r>
                        <a:rPr lang="en-US" dirty="0"/>
                        <a:t>Redundancy,</a:t>
                      </a:r>
                    </a:p>
                    <a:p>
                      <a:r>
                        <a:rPr lang="en-US" dirty="0"/>
                        <a:t>Low Energy Consumption, Security </a:t>
                      </a:r>
                    </a:p>
                    <a:p>
                      <a:r>
                        <a:rPr lang="en-US" dirty="0"/>
                        <a:t>Features</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custDataLst>
              <p:tags r:id="rId1"/>
            </p:custDataLst>
            <p:extLst>
              <p:ext uri="{D42A27DB-BD31-4B8C-83A1-F6EECF244321}">
                <p14:modId xmlns:p14="http://schemas.microsoft.com/office/powerpoint/2010/main" val="1843162296"/>
              </p:ext>
            </p:extLst>
          </p:nvPr>
        </p:nvGraphicFramePr>
        <p:xfrm>
          <a:off x="137160" y="135890"/>
          <a:ext cx="9006841" cy="6127115"/>
        </p:xfrm>
        <a:graphic>
          <a:graphicData uri="http://schemas.openxmlformats.org/drawingml/2006/table">
            <a:tbl>
              <a:tblPr firstRow="1" bandRow="1">
                <a:tableStyleId>{5C22544A-7EE6-4342-B048-85BDC9FD1C3A}</a:tableStyleId>
              </a:tblPr>
              <a:tblGrid>
                <a:gridCol w="730581">
                  <a:extLst>
                    <a:ext uri="{9D8B030D-6E8A-4147-A177-3AD203B41FA5}">
                      <a16:colId xmlns:a16="http://schemas.microsoft.com/office/drawing/2014/main" val="20000"/>
                    </a:ext>
                  </a:extLst>
                </a:gridCol>
                <a:gridCol w="2256459">
                  <a:extLst>
                    <a:ext uri="{9D8B030D-6E8A-4147-A177-3AD203B41FA5}">
                      <a16:colId xmlns:a16="http://schemas.microsoft.com/office/drawing/2014/main" val="20001"/>
                    </a:ext>
                  </a:extLst>
                </a:gridCol>
                <a:gridCol w="1129489">
                  <a:extLst>
                    <a:ext uri="{9D8B030D-6E8A-4147-A177-3AD203B41FA5}">
                      <a16:colId xmlns:a16="http://schemas.microsoft.com/office/drawing/2014/main" val="20002"/>
                    </a:ext>
                  </a:extLst>
                </a:gridCol>
                <a:gridCol w="1779702">
                  <a:extLst>
                    <a:ext uri="{9D8B030D-6E8A-4147-A177-3AD203B41FA5}">
                      <a16:colId xmlns:a16="http://schemas.microsoft.com/office/drawing/2014/main" val="20003"/>
                    </a:ext>
                  </a:extLst>
                </a:gridCol>
                <a:gridCol w="1609470">
                  <a:extLst>
                    <a:ext uri="{9D8B030D-6E8A-4147-A177-3AD203B41FA5}">
                      <a16:colId xmlns:a16="http://schemas.microsoft.com/office/drawing/2014/main" val="20004"/>
                    </a:ext>
                  </a:extLst>
                </a:gridCol>
                <a:gridCol w="1501140">
                  <a:extLst>
                    <a:ext uri="{9D8B030D-6E8A-4147-A177-3AD203B41FA5}">
                      <a16:colId xmlns:a16="http://schemas.microsoft.com/office/drawing/2014/main" val="20005"/>
                    </a:ext>
                  </a:extLst>
                </a:gridCol>
              </a:tblGrid>
              <a:tr h="2253615">
                <a:tc>
                  <a:txBody>
                    <a:bodyPr/>
                    <a:lstStyle/>
                    <a:p>
                      <a:pPr>
                        <a:buNone/>
                      </a:pPr>
                      <a:r>
                        <a:rPr lang="en-US" sz="2400" b="0">
                          <a:solidFill>
                            <a:schemeClr val="tx1"/>
                          </a:solidFill>
                          <a:latin typeface="Times New Roman" panose="02020603050405020304" pitchFamily="18" charset="0"/>
                          <a:cs typeface="Times New Roman" panose="02020603050405020304" pitchFamily="18" charset="0"/>
                        </a:rPr>
                        <a:t>3</a:t>
                      </a:r>
                    </a:p>
                  </a:txBody>
                  <a:tcPr/>
                </a:tc>
                <a:tc>
                  <a:txBody>
                    <a:bodyPr/>
                    <a:lstStyle/>
                    <a:p>
                      <a:pPr>
                        <a:buNone/>
                      </a:pPr>
                      <a:r>
                        <a:rPr lang="en-US" sz="2000" b="0" dirty="0">
                          <a:solidFill>
                            <a:schemeClr val="tx1"/>
                          </a:solidFill>
                          <a:latin typeface="Times New Roman" panose="02020603050405020304" pitchFamily="18" charset="0"/>
                          <a:cs typeface="Times New Roman" panose="02020603050405020304" pitchFamily="18" charset="0"/>
                        </a:rPr>
                        <a:t>Next generation home automation system based on voice recognition</a:t>
                      </a:r>
                    </a:p>
                  </a:txBody>
                  <a:tcPr/>
                </a:tc>
                <a:tc>
                  <a:txBody>
                    <a:bodyPr/>
                    <a:lstStyle/>
                    <a:p>
                      <a:pPr>
                        <a:buNone/>
                      </a:pPr>
                      <a:endParaRPr lang="en-US" sz="2400" b="0" dirty="0">
                        <a:solidFill>
                          <a:schemeClr val="tx1"/>
                        </a:solidFill>
                        <a:latin typeface="Times New Roman" panose="02020603050405020304" pitchFamily="18" charset="0"/>
                        <a:cs typeface="Times New Roman" panose="02020603050405020304" pitchFamily="18" charset="0"/>
                      </a:endParaRPr>
                    </a:p>
                    <a:p>
                      <a:pPr>
                        <a:buNone/>
                      </a:pPr>
                      <a:r>
                        <a:rPr lang="en-US" sz="1800" b="0" dirty="0">
                          <a:solidFill>
                            <a:schemeClr val="tx1"/>
                          </a:solidFill>
                          <a:latin typeface="Times New Roman" panose="02020603050405020304" pitchFamily="18" charset="0"/>
                          <a:cs typeface="Times New Roman" panose="02020603050405020304" pitchFamily="18" charset="0"/>
                        </a:rPr>
                        <a:t>2020</a:t>
                      </a:r>
                    </a:p>
                    <a:p>
                      <a:pPr>
                        <a:buNone/>
                      </a:pPr>
                      <a:endParaRPr lang="en-US" sz="24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buNone/>
                      </a:pPr>
                      <a:r>
                        <a:rPr lang="en-US" sz="1800" b="0" dirty="0">
                          <a:solidFill>
                            <a:schemeClr val="tx1"/>
                          </a:solidFill>
                          <a:effectLst/>
                          <a:sym typeface="+mn-ea"/>
                        </a:rPr>
                        <a:t>Next-generation voice recognition-based home automation system</a:t>
                      </a:r>
                      <a:endParaRPr lang="en-US" sz="1800" b="0" i="0" u="none" strike="noStrike" dirty="0">
                        <a:solidFill>
                          <a:schemeClr val="tx1"/>
                        </a:solidFill>
                        <a:effectLst/>
                        <a:latin typeface="Calibri" panose="020F0502020204030204"/>
                      </a:endParaRPr>
                    </a:p>
                    <a:p>
                      <a:pPr>
                        <a:buNone/>
                      </a:pPr>
                      <a:endParaRPr lang="en-US" sz="1800" b="0" i="0" u="none" strike="noStrike" dirty="0">
                        <a:solidFill>
                          <a:schemeClr val="tx1"/>
                        </a:solidFill>
                        <a:effectLst/>
                        <a:latin typeface="Calibri" panose="020F0502020204030204"/>
                      </a:endParaRPr>
                    </a:p>
                  </a:txBody>
                  <a:tcPr/>
                </a:tc>
                <a:tc>
                  <a:txBody>
                    <a:bodyPr/>
                    <a:lstStyle/>
                    <a:p>
                      <a:pPr>
                        <a:buNone/>
                      </a:pPr>
                      <a:r>
                        <a:rPr lang="en-US" sz="1800" b="0" dirty="0">
                          <a:solidFill>
                            <a:schemeClr val="tx1"/>
                          </a:solidFill>
                          <a:latin typeface="Times New Roman" panose="02020603050405020304" pitchFamily="18" charset="0"/>
                          <a:cs typeface="Times New Roman" panose="02020603050405020304" pitchFamily="18" charset="0"/>
                        </a:rPr>
                        <a:t>Advanced Voice Recognition,</a:t>
                      </a:r>
                    </a:p>
                    <a:p>
                      <a:pPr>
                        <a:buNone/>
                      </a:pPr>
                      <a:r>
                        <a:rPr lang="en-US" sz="1800" b="0" dirty="0">
                          <a:solidFill>
                            <a:schemeClr val="tx1"/>
                          </a:solidFill>
                          <a:latin typeface="Times New Roman" panose="02020603050405020304" pitchFamily="18" charset="0"/>
                          <a:cs typeface="Times New Roman" panose="02020603050405020304" pitchFamily="18" charset="0"/>
                        </a:rPr>
                        <a:t>Context Awareness,</a:t>
                      </a:r>
                    </a:p>
                    <a:p>
                      <a:pPr>
                        <a:buNone/>
                      </a:pPr>
                      <a:r>
                        <a:rPr lang="en-US" sz="1800" b="0" dirty="0">
                          <a:solidFill>
                            <a:schemeClr val="tx1"/>
                          </a:solidFill>
                          <a:latin typeface="Times New Roman" panose="02020603050405020304" pitchFamily="18" charset="0"/>
                          <a:cs typeface="Times New Roman" panose="02020603050405020304" pitchFamily="18" charset="0"/>
                        </a:rPr>
                        <a:t>Local Processing Options</a:t>
                      </a:r>
                    </a:p>
                  </a:txBody>
                  <a:tcPr/>
                </a:tc>
                <a:tc>
                  <a:txBody>
                    <a:bodyPr/>
                    <a:lstStyle/>
                    <a:p>
                      <a:pPr>
                        <a:buNone/>
                      </a:pPr>
                      <a:r>
                        <a:rPr lang="en-US" b="0" dirty="0">
                          <a:solidFill>
                            <a:schemeClr val="tx1"/>
                          </a:solidFill>
                          <a:latin typeface="Times New Roman" panose="02020603050405020304" pitchFamily="18" charset="0"/>
                          <a:cs typeface="Times New Roman" panose="02020603050405020304" pitchFamily="18" charset="0"/>
                        </a:rPr>
                        <a:t>Hands-Free Operation,</a:t>
                      </a:r>
                    </a:p>
                    <a:p>
                      <a:pPr>
                        <a:buNone/>
                      </a:pPr>
                      <a:r>
                        <a:rPr lang="en-US" b="0" dirty="0">
                          <a:solidFill>
                            <a:schemeClr val="tx1"/>
                          </a:solidFill>
                          <a:latin typeface="Times New Roman" panose="02020603050405020304" pitchFamily="18" charset="0"/>
                          <a:cs typeface="Times New Roman" panose="02020603050405020304" pitchFamily="18" charset="0"/>
                        </a:rPr>
                        <a:t>Increased Efficiency,</a:t>
                      </a:r>
                    </a:p>
                    <a:p>
                      <a:pPr>
                        <a:buNone/>
                      </a:pPr>
                      <a:r>
                        <a:rPr lang="en-US" b="0" dirty="0">
                          <a:solidFill>
                            <a:schemeClr val="tx1"/>
                          </a:solidFill>
                          <a:latin typeface="Times New Roman" panose="02020603050405020304" pitchFamily="18" charset="0"/>
                          <a:cs typeface="Times New Roman" panose="02020603050405020304" pitchFamily="18" charset="0"/>
                        </a:rPr>
                        <a:t>Integration with Virtual Assistants</a:t>
                      </a:r>
                    </a:p>
                  </a:txBody>
                  <a:tcPr/>
                </a:tc>
                <a:extLst>
                  <a:ext uri="{0D108BD9-81ED-4DB2-BD59-A6C34878D82A}">
                    <a16:rowId xmlns:a16="http://schemas.microsoft.com/office/drawing/2014/main" val="10000"/>
                  </a:ext>
                </a:extLst>
              </a:tr>
              <a:tr h="1553845">
                <a:tc>
                  <a:txBody>
                    <a:bodyPr/>
                    <a:lstStyle/>
                    <a:p>
                      <a:pPr>
                        <a:buNone/>
                      </a:pPr>
                      <a:r>
                        <a:rPr lang="en-US"/>
                        <a:t>4</a:t>
                      </a:r>
                    </a:p>
                  </a:txBody>
                  <a:tcPr/>
                </a:tc>
                <a:tc>
                  <a:txBody>
                    <a:bodyPr/>
                    <a:lstStyle/>
                    <a:p>
                      <a:pPr>
                        <a:buNone/>
                      </a:pPr>
                      <a:r>
                        <a:rPr lang="en-US" sz="1800">
                          <a:latin typeface="Times New Roman" panose="02020603050405020304" pitchFamily="18" charset="0"/>
                          <a:cs typeface="Times New Roman" panose="02020603050405020304" pitchFamily="18" charset="0"/>
                        </a:rPr>
                        <a:t>Approach to secure internet of things applications using MQTT</a:t>
                      </a:r>
                    </a:p>
                    <a:p>
                      <a:pPr>
                        <a:buNone/>
                      </a:pPr>
                      <a:r>
                        <a:rPr lang="en-US" sz="1800">
                          <a:latin typeface="Times New Roman" panose="02020603050405020304" pitchFamily="18" charset="0"/>
                          <a:cs typeface="Times New Roman" panose="02020603050405020304" pitchFamily="18" charset="0"/>
                        </a:rPr>
                        <a:t> protocol</a:t>
                      </a:r>
                    </a:p>
                  </a:txBody>
                  <a:tcPr/>
                </a:tc>
                <a:tc>
                  <a:txBody>
                    <a:bodyPr/>
                    <a:lstStyle/>
                    <a:p>
                      <a:pPr>
                        <a:buNone/>
                      </a:pPr>
                      <a:endParaRPr lang="en-US" sz="2000">
                        <a:latin typeface="Times New Roman" panose="02020603050405020304" pitchFamily="18" charset="0"/>
                        <a:cs typeface="Times New Roman" panose="02020603050405020304" pitchFamily="18" charset="0"/>
                      </a:endParaRPr>
                    </a:p>
                    <a:p>
                      <a:pPr>
                        <a:buNone/>
                      </a:pPr>
                      <a:r>
                        <a:rPr lang="en-US" sz="2000">
                          <a:latin typeface="Times New Roman" panose="02020603050405020304" pitchFamily="18" charset="0"/>
                          <a:cs typeface="Times New Roman" panose="02020603050405020304" pitchFamily="18" charset="0"/>
                        </a:rPr>
                        <a:t>2021</a:t>
                      </a:r>
                    </a:p>
                  </a:txBody>
                  <a:tcPr/>
                </a:tc>
                <a:tc>
                  <a:txBody>
                    <a:bodyPr/>
                    <a:lstStyle/>
                    <a:p>
                      <a:pPr>
                        <a:buNone/>
                      </a:pPr>
                      <a:r>
                        <a:rPr lang="en-US" sz="1800" dirty="0">
                          <a:effectLst/>
                          <a:sym typeface="+mn-ea"/>
                        </a:rPr>
                        <a:t>secure IoT application using MQTT protocol</a:t>
                      </a:r>
                      <a:endParaRPr lang="en-US" sz="1800" b="0" i="0" u="none" strike="noStrike" dirty="0">
                        <a:solidFill>
                          <a:srgbClr val="000000"/>
                        </a:solidFill>
                        <a:effectLst/>
                        <a:latin typeface="Calibri" panose="020F0502020204030204"/>
                      </a:endParaRPr>
                    </a:p>
                    <a:p>
                      <a:pPr>
                        <a:buNone/>
                      </a:pPr>
                      <a:endParaRPr lang="en-US" dirty="0"/>
                    </a:p>
                  </a:txBody>
                  <a:tcPr/>
                </a:tc>
                <a:tc>
                  <a:txBody>
                    <a:bodyPr/>
                    <a:lstStyle/>
                    <a:p>
                      <a:pPr>
                        <a:buNone/>
                      </a:pPr>
                      <a:r>
                        <a:rPr lang="en-US" dirty="0"/>
                        <a:t>MQTT Protocol,</a:t>
                      </a:r>
                    </a:p>
                    <a:p>
                      <a:pPr>
                        <a:buNone/>
                      </a:pPr>
                      <a:r>
                        <a:rPr lang="en-US" dirty="0" err="1"/>
                        <a:t>AuthenticationEncryption</a:t>
                      </a:r>
                      <a:r>
                        <a:rPr lang="en-US" dirty="0"/>
                        <a:t>,</a:t>
                      </a:r>
                    </a:p>
                    <a:p>
                      <a:pPr>
                        <a:buNone/>
                      </a:pPr>
                      <a:r>
                        <a:rPr lang="en-US" dirty="0"/>
                        <a:t>Quality of Service (QoS)</a:t>
                      </a:r>
                    </a:p>
                  </a:txBody>
                  <a:tcPr/>
                </a:tc>
                <a:tc>
                  <a:txBody>
                    <a:bodyPr/>
                    <a:lstStyle/>
                    <a:p>
                      <a:pPr>
                        <a:buNone/>
                      </a:pPr>
                      <a:r>
                        <a:rPr lang="en-US" dirty="0"/>
                        <a:t>Light weight and Efficient,</a:t>
                      </a:r>
                    </a:p>
                    <a:p>
                      <a:pPr>
                        <a:buNone/>
                      </a:pPr>
                      <a:r>
                        <a:rPr lang="en-US" dirty="0"/>
                        <a:t>Flexible Data Handling</a:t>
                      </a:r>
                    </a:p>
                  </a:txBody>
                  <a:tcPr/>
                </a:tc>
                <a:extLst>
                  <a:ext uri="{0D108BD9-81ED-4DB2-BD59-A6C34878D82A}">
                    <a16:rowId xmlns:a16="http://schemas.microsoft.com/office/drawing/2014/main" val="10001"/>
                  </a:ext>
                </a:extLst>
              </a:tr>
              <a:tr h="2103755">
                <a:tc>
                  <a:txBody>
                    <a:bodyPr/>
                    <a:lstStyle/>
                    <a:p>
                      <a:pPr>
                        <a:buNone/>
                      </a:pPr>
                      <a:r>
                        <a:rPr lang="en-US"/>
                        <a:t>5</a:t>
                      </a:r>
                    </a:p>
                  </a:txBody>
                  <a:tcPr/>
                </a:tc>
                <a:tc>
                  <a:txBody>
                    <a:bodyPr/>
                    <a:lstStyle/>
                    <a:p>
                      <a:pPr>
                        <a:buNone/>
                      </a:pPr>
                      <a:r>
                        <a:rPr lang="en-US"/>
                        <a:t>Design and implementation of smart home energy management systems using green</a:t>
                      </a:r>
                    </a:p>
                    <a:p>
                      <a:pPr>
                        <a:buNone/>
                      </a:pPr>
                      <a:r>
                        <a:rPr lang="en-US"/>
                        <a:t>energy</a:t>
                      </a:r>
                    </a:p>
                  </a:txBody>
                  <a:tcPr/>
                </a:tc>
                <a:tc>
                  <a:txBody>
                    <a:bodyPr/>
                    <a:lstStyle/>
                    <a:p>
                      <a:pPr>
                        <a:buNone/>
                      </a:pPr>
                      <a:endParaRPr lang="en-US"/>
                    </a:p>
                    <a:p>
                      <a:pPr>
                        <a:buNone/>
                      </a:pPr>
                      <a:r>
                        <a:rPr lang="en-US"/>
                        <a:t>2021</a:t>
                      </a:r>
                    </a:p>
                  </a:txBody>
                  <a:tcPr/>
                </a:tc>
                <a:tc>
                  <a:txBody>
                    <a:bodyPr/>
                    <a:lstStyle/>
                    <a:p>
                      <a:pPr>
                        <a:buNone/>
                      </a:pPr>
                      <a:r>
                        <a:rPr lang="en-US" sz="1800">
                          <a:sym typeface="+mn-ea"/>
                        </a:rPr>
                        <a:t>smart home energy management systems using green</a:t>
                      </a:r>
                      <a:endParaRPr lang="en-US" sz="1800"/>
                    </a:p>
                    <a:p>
                      <a:pPr>
                        <a:buNone/>
                      </a:pPr>
                      <a:r>
                        <a:rPr lang="en-US" sz="1800">
                          <a:sym typeface="+mn-ea"/>
                        </a:rPr>
                        <a:t>energy</a:t>
                      </a:r>
                      <a:endParaRPr lang="en-US" sz="1800"/>
                    </a:p>
                    <a:p>
                      <a:pPr>
                        <a:buNone/>
                      </a:pPr>
                      <a:endParaRPr lang="en-US"/>
                    </a:p>
                  </a:txBody>
                  <a:tcPr/>
                </a:tc>
                <a:tc>
                  <a:txBody>
                    <a:bodyPr/>
                    <a:lstStyle/>
                    <a:p>
                      <a:pPr>
                        <a:buNone/>
                      </a:pPr>
                      <a:r>
                        <a:rPr lang="en-US"/>
                        <a:t>Smart Meters,BatteryStorage,Smart Appliances</a:t>
                      </a:r>
                    </a:p>
                  </a:txBody>
                  <a:tcPr/>
                </a:tc>
                <a:tc>
                  <a:txBody>
                    <a:bodyPr/>
                    <a:lstStyle/>
                    <a:p>
                      <a:pPr>
                        <a:buNone/>
                      </a:pPr>
                      <a:r>
                        <a:rPr lang="en-US" dirty="0"/>
                        <a:t>Increased Efficiency,</a:t>
                      </a:r>
                    </a:p>
                    <a:p>
                      <a:pPr>
                        <a:buNone/>
                      </a:pPr>
                      <a:r>
                        <a:rPr lang="en-US" dirty="0"/>
                        <a:t>Enhanced </a:t>
                      </a:r>
                    </a:p>
                    <a:p>
                      <a:pPr>
                        <a:buNone/>
                      </a:pPr>
                      <a:r>
                        <a:rPr lang="en-US" dirty="0"/>
                        <a:t>Comfort</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955"/>
            <a:ext cx="8229600" cy="76200"/>
          </a:xfrm>
        </p:spPr>
        <p:txBody>
          <a:bodyPr>
            <a:normAutofit fontScale="90000"/>
          </a:bodyPr>
          <a:lstStyle/>
          <a:p>
            <a:endParaRPr lang="en-GB" altLang="en-US"/>
          </a:p>
        </p:txBody>
      </p:sp>
      <p:graphicFrame>
        <p:nvGraphicFramePr>
          <p:cNvPr id="6" name="Content Placeholder 5"/>
          <p:cNvGraphicFramePr>
            <a:graphicFrameLocks noGrp="1"/>
          </p:cNvGraphicFramePr>
          <p:nvPr>
            <p:ph idx="1"/>
            <p:custDataLst>
              <p:tags r:id="rId1"/>
            </p:custDataLst>
            <p:extLst>
              <p:ext uri="{D42A27DB-BD31-4B8C-83A1-F6EECF244321}">
                <p14:modId xmlns:p14="http://schemas.microsoft.com/office/powerpoint/2010/main" val="3363183588"/>
              </p:ext>
            </p:extLst>
          </p:nvPr>
        </p:nvGraphicFramePr>
        <p:xfrm>
          <a:off x="108585" y="8890"/>
          <a:ext cx="8960485" cy="6858000"/>
        </p:xfrm>
        <a:graphic>
          <a:graphicData uri="http://schemas.openxmlformats.org/drawingml/2006/table">
            <a:tbl>
              <a:tblPr firstRow="1" bandRow="1">
                <a:tableStyleId>{5C22544A-7EE6-4342-B048-85BDC9FD1C3A}</a:tableStyleId>
              </a:tblPr>
              <a:tblGrid>
                <a:gridCol w="790575">
                  <a:extLst>
                    <a:ext uri="{9D8B030D-6E8A-4147-A177-3AD203B41FA5}">
                      <a16:colId xmlns:a16="http://schemas.microsoft.com/office/drawing/2014/main" val="20000"/>
                    </a:ext>
                  </a:extLst>
                </a:gridCol>
                <a:gridCol w="2165350">
                  <a:extLst>
                    <a:ext uri="{9D8B030D-6E8A-4147-A177-3AD203B41FA5}">
                      <a16:colId xmlns:a16="http://schemas.microsoft.com/office/drawing/2014/main" val="20001"/>
                    </a:ext>
                  </a:extLst>
                </a:gridCol>
                <a:gridCol w="1050290">
                  <a:extLst>
                    <a:ext uri="{9D8B030D-6E8A-4147-A177-3AD203B41FA5}">
                      <a16:colId xmlns:a16="http://schemas.microsoft.com/office/drawing/2014/main" val="20002"/>
                    </a:ext>
                  </a:extLst>
                </a:gridCol>
                <a:gridCol w="1967230">
                  <a:extLst>
                    <a:ext uri="{9D8B030D-6E8A-4147-A177-3AD203B41FA5}">
                      <a16:colId xmlns:a16="http://schemas.microsoft.com/office/drawing/2014/main" val="20003"/>
                    </a:ext>
                  </a:extLst>
                </a:gridCol>
                <a:gridCol w="1494155">
                  <a:extLst>
                    <a:ext uri="{9D8B030D-6E8A-4147-A177-3AD203B41FA5}">
                      <a16:colId xmlns:a16="http://schemas.microsoft.com/office/drawing/2014/main" val="20004"/>
                    </a:ext>
                  </a:extLst>
                </a:gridCol>
                <a:gridCol w="1492885">
                  <a:extLst>
                    <a:ext uri="{9D8B030D-6E8A-4147-A177-3AD203B41FA5}">
                      <a16:colId xmlns:a16="http://schemas.microsoft.com/office/drawing/2014/main" val="20005"/>
                    </a:ext>
                  </a:extLst>
                </a:gridCol>
              </a:tblGrid>
              <a:tr h="2011680">
                <a:tc>
                  <a:txBody>
                    <a:bodyPr/>
                    <a:lstStyle/>
                    <a:p>
                      <a:pPr>
                        <a:buNone/>
                      </a:pPr>
                      <a:r>
                        <a:rPr lang="en-GB" altLang="en-US" sz="2000" b="0" dirty="0">
                          <a:solidFill>
                            <a:schemeClr val="tx1"/>
                          </a:solidFill>
                          <a:latin typeface="Times New Roman" panose="02020603050405020304" pitchFamily="18" charset="0"/>
                          <a:cs typeface="Times New Roman" panose="02020603050405020304" pitchFamily="18" charset="0"/>
                        </a:rPr>
                        <a:t>6</a:t>
                      </a:r>
                    </a:p>
                  </a:txBody>
                  <a:tcPr/>
                </a:tc>
                <a:tc>
                  <a:txBody>
                    <a:bodyPr/>
                    <a:lstStyle/>
                    <a:p>
                      <a:pPr>
                        <a:buNone/>
                      </a:pPr>
                      <a:r>
                        <a:rPr lang="en-US" altLang="en-GB" b="0">
                          <a:solidFill>
                            <a:schemeClr val="tx1"/>
                          </a:solidFill>
                        </a:rPr>
                        <a:t>Implementation and recent progress in cloud-based smart home automation systems</a:t>
                      </a:r>
                    </a:p>
                    <a:p>
                      <a:pPr>
                        <a:buNone/>
                      </a:pPr>
                      <a:endParaRPr lang="en-US" altLang="en-GB" b="0">
                        <a:solidFill>
                          <a:schemeClr val="tx1"/>
                        </a:solidFill>
                      </a:endParaRPr>
                    </a:p>
                  </a:txBody>
                  <a:tcPr/>
                </a:tc>
                <a:tc>
                  <a:txBody>
                    <a:bodyPr/>
                    <a:lstStyle/>
                    <a:p>
                      <a:pPr>
                        <a:buNone/>
                      </a:pPr>
                      <a:endParaRPr lang="en-US" altLang="en-GB" sz="2000">
                        <a:solidFill>
                          <a:schemeClr val="tx1"/>
                        </a:solidFill>
                        <a:latin typeface="Times New Roman" panose="02020603050405020304" pitchFamily="18" charset="0"/>
                        <a:cs typeface="Times New Roman" panose="02020603050405020304" pitchFamily="18" charset="0"/>
                      </a:endParaRPr>
                    </a:p>
                    <a:p>
                      <a:pPr>
                        <a:buNone/>
                      </a:pPr>
                      <a:endParaRPr lang="en-US" altLang="en-GB" sz="2000">
                        <a:solidFill>
                          <a:schemeClr val="tx1"/>
                        </a:solidFill>
                        <a:latin typeface="Times New Roman" panose="02020603050405020304" pitchFamily="18" charset="0"/>
                        <a:cs typeface="Times New Roman" panose="02020603050405020304" pitchFamily="18" charset="0"/>
                      </a:endParaRPr>
                    </a:p>
                    <a:p>
                      <a:pPr>
                        <a:buNone/>
                      </a:pPr>
                      <a:r>
                        <a:rPr lang="en-US" altLang="en-GB" sz="2000" b="0">
                          <a:solidFill>
                            <a:schemeClr val="tx1"/>
                          </a:solidFill>
                          <a:latin typeface="Times New Roman" panose="02020603050405020304" pitchFamily="18" charset="0"/>
                          <a:cs typeface="Times New Roman" panose="02020603050405020304" pitchFamily="18" charset="0"/>
                        </a:rPr>
                        <a:t>201</a:t>
                      </a:r>
                      <a:r>
                        <a:rPr lang="en-GB" altLang="en-US" sz="2000" b="0">
                          <a:solidFill>
                            <a:schemeClr val="tx1"/>
                          </a:solidFill>
                          <a:latin typeface="Times New Roman" panose="02020603050405020304" pitchFamily="18" charset="0"/>
                          <a:cs typeface="Times New Roman" panose="02020603050405020304" pitchFamily="18" charset="0"/>
                        </a:rPr>
                        <a:t>8</a:t>
                      </a:r>
                    </a:p>
                  </a:txBody>
                  <a:tcPr/>
                </a:tc>
                <a:tc>
                  <a:txBody>
                    <a:bodyPr/>
                    <a:lstStyle/>
                    <a:p>
                      <a:pPr>
                        <a:buNone/>
                      </a:pPr>
                      <a:r>
                        <a:rPr lang="en-US" altLang="en-GB" dirty="0"/>
                        <a:t> </a:t>
                      </a:r>
                      <a:r>
                        <a:rPr lang="en-US" altLang="en-GB" b="0" dirty="0">
                          <a:solidFill>
                            <a:schemeClr val="tx1"/>
                          </a:solidFill>
                          <a:latin typeface="Times New Roman" panose="02020603050405020304" pitchFamily="18" charset="0"/>
                          <a:cs typeface="Times New Roman" panose="02020603050405020304" pitchFamily="18" charset="0"/>
                        </a:rPr>
                        <a:t>Cloud Computing Infrastructure,</a:t>
                      </a:r>
                    </a:p>
                    <a:p>
                      <a:pPr>
                        <a:buNone/>
                      </a:pPr>
                      <a:r>
                        <a:rPr lang="en-US" altLang="en-GB" b="0" dirty="0">
                          <a:solidFill>
                            <a:schemeClr val="tx1"/>
                          </a:solidFill>
                          <a:latin typeface="Times New Roman" panose="02020603050405020304" pitchFamily="18" charset="0"/>
                          <a:cs typeface="Times New Roman" panose="02020603050405020304" pitchFamily="18" charset="0"/>
                        </a:rPr>
                        <a:t>Internet of Things (IoT) Integration</a:t>
                      </a:r>
                      <a:endParaRPr lang="en-US" altLang="en-GB" dirty="0">
                        <a:solidFill>
                          <a:schemeClr val="tx1"/>
                        </a:solidFill>
                        <a:latin typeface="Times New Roman" panose="02020603050405020304" pitchFamily="18" charset="0"/>
                        <a:cs typeface="Times New Roman" panose="02020603050405020304" pitchFamily="18" charset="0"/>
                      </a:endParaRPr>
                    </a:p>
                    <a:p>
                      <a:pPr>
                        <a:buNone/>
                      </a:pPr>
                      <a:endParaRPr lang="en-US" altLang="en-GB" dirty="0">
                        <a:solidFill>
                          <a:schemeClr val="tx1"/>
                        </a:solidFill>
                        <a:latin typeface="Times New Roman" panose="02020603050405020304" pitchFamily="18" charset="0"/>
                        <a:cs typeface="Times New Roman" panose="02020603050405020304" pitchFamily="18" charset="0"/>
                      </a:endParaRPr>
                    </a:p>
                  </a:txBody>
                  <a:tcPr/>
                </a:tc>
                <a:tc>
                  <a:txBody>
                    <a:bodyPr/>
                    <a:lstStyle/>
                    <a:p>
                      <a:pPr>
                        <a:buNone/>
                      </a:pPr>
                      <a:r>
                        <a:rPr lang="en-US" altLang="en-GB" dirty="0"/>
                        <a:t> </a:t>
                      </a:r>
                      <a:r>
                        <a:rPr lang="en-US" altLang="en-GB" b="0" dirty="0">
                          <a:solidFill>
                            <a:schemeClr val="tx1"/>
                          </a:solidFill>
                          <a:latin typeface="Times New Roman" panose="02020603050405020304" pitchFamily="18" charset="0"/>
                          <a:cs typeface="Times New Roman" panose="02020603050405020304" pitchFamily="18" charset="0"/>
                        </a:rPr>
                        <a:t>IoT Devices and Sensors,</a:t>
                      </a:r>
                    </a:p>
                    <a:p>
                      <a:pPr>
                        <a:buNone/>
                      </a:pPr>
                      <a:r>
                        <a:rPr lang="en-US" altLang="en-GB" b="0" dirty="0">
                          <a:solidFill>
                            <a:schemeClr val="tx1"/>
                          </a:solidFill>
                          <a:latin typeface="Times New Roman" panose="02020603050405020304" pitchFamily="18" charset="0"/>
                          <a:cs typeface="Times New Roman" panose="02020603050405020304" pitchFamily="18" charset="0"/>
                        </a:rPr>
                        <a:t>Protocols,</a:t>
                      </a:r>
                    </a:p>
                    <a:p>
                      <a:pPr>
                        <a:buNone/>
                      </a:pPr>
                      <a:r>
                        <a:rPr lang="en-US" altLang="en-GB" b="0" dirty="0">
                          <a:solidFill>
                            <a:schemeClr val="tx1"/>
                          </a:solidFill>
                          <a:latin typeface="Times New Roman" panose="02020603050405020304" pitchFamily="18" charset="0"/>
                          <a:cs typeface="Times New Roman" panose="02020603050405020304" pitchFamily="18" charset="0"/>
                        </a:rPr>
                        <a:t>Data Analytics</a:t>
                      </a:r>
                    </a:p>
                  </a:txBody>
                  <a:tcPr/>
                </a:tc>
                <a:tc>
                  <a:txBody>
                    <a:bodyPr/>
                    <a:lstStyle/>
                    <a:p>
                      <a:pPr>
                        <a:buNone/>
                      </a:pPr>
                      <a:r>
                        <a:rPr lang="en-US" sz="1800" b="0" dirty="0">
                          <a:solidFill>
                            <a:schemeClr val="tx1"/>
                          </a:solidFill>
                          <a:sym typeface="+mn-ea"/>
                        </a:rPr>
                        <a:t>Access,Data Storage and Analysis,</a:t>
                      </a:r>
                    </a:p>
                    <a:p>
                      <a:pPr>
                        <a:buNone/>
                      </a:pPr>
                      <a:r>
                        <a:rPr lang="en-US" sz="1800" b="0" dirty="0">
                          <a:solidFill>
                            <a:schemeClr val="tx1"/>
                          </a:solidFill>
                          <a:sym typeface="+mn-ea"/>
                        </a:rPr>
                        <a:t>Collaboration and </a:t>
                      </a:r>
                    </a:p>
                    <a:p>
                      <a:pPr>
                        <a:buNone/>
                      </a:pPr>
                      <a:r>
                        <a:rPr lang="en-US" sz="1800" b="0" dirty="0">
                          <a:solidFill>
                            <a:schemeClr val="tx1"/>
                          </a:solidFill>
                          <a:sym typeface="+mn-ea"/>
                        </a:rPr>
                        <a:t>Integration</a:t>
                      </a:r>
                      <a:endParaRPr lang="en-US" sz="1800" b="0" dirty="0">
                        <a:solidFill>
                          <a:schemeClr val="tx1"/>
                        </a:solidFill>
                      </a:endParaRPr>
                    </a:p>
                    <a:p>
                      <a:pPr>
                        <a:buNone/>
                      </a:pPr>
                      <a:endParaRPr lang="en-US" altLang="en-US" sz="1800" b="0" dirty="0">
                        <a:solidFill>
                          <a:schemeClr val="tx1"/>
                        </a:solidFill>
                      </a:endParaRPr>
                    </a:p>
                  </a:txBody>
                  <a:tcPr/>
                </a:tc>
                <a:extLst>
                  <a:ext uri="{0D108BD9-81ED-4DB2-BD59-A6C34878D82A}">
                    <a16:rowId xmlns:a16="http://schemas.microsoft.com/office/drawing/2014/main" val="10000"/>
                  </a:ext>
                </a:extLst>
              </a:tr>
              <a:tr h="2560320">
                <a:tc>
                  <a:txBody>
                    <a:bodyPr/>
                    <a:lstStyle/>
                    <a:p>
                      <a:pPr>
                        <a:buNone/>
                      </a:pPr>
                      <a:r>
                        <a:rPr lang="en-GB" altLang="en-US"/>
                        <a:t>7</a:t>
                      </a:r>
                    </a:p>
                  </a:txBody>
                  <a:tcPr/>
                </a:tc>
                <a:tc>
                  <a:txBody>
                    <a:bodyPr/>
                    <a:lstStyle/>
                    <a:p>
                      <a:pPr>
                        <a:buNone/>
                      </a:pPr>
                      <a:r>
                        <a:rPr lang="en-US" altLang="en-GB">
                          <a:latin typeface="Times New Roman" panose="02020603050405020304" pitchFamily="18" charset="0"/>
                          <a:cs typeface="Times New Roman" panose="02020603050405020304" pitchFamily="18" charset="0"/>
                        </a:rPr>
                        <a:t>Voice controlled home automation system using Natural Language Processing (NLP) and Internet of Things (IoT)</a:t>
                      </a:r>
                    </a:p>
                    <a:p>
                      <a:pPr>
                        <a:buNone/>
                      </a:pPr>
                      <a:endParaRPr lang="en-US" altLang="en-GB">
                        <a:latin typeface="Times New Roman" panose="02020603050405020304" pitchFamily="18" charset="0"/>
                        <a:cs typeface="Times New Roman" panose="02020603050405020304" pitchFamily="18" charset="0"/>
                      </a:endParaRPr>
                    </a:p>
                  </a:txBody>
                  <a:tcPr/>
                </a:tc>
                <a:tc>
                  <a:txBody>
                    <a:bodyPr/>
                    <a:lstStyle/>
                    <a:p>
                      <a:pPr>
                        <a:buNone/>
                      </a:pPr>
                      <a:endParaRPr lang="en-US" altLang="en-GB" dirty="0"/>
                    </a:p>
                    <a:p>
                      <a:pPr>
                        <a:buNone/>
                      </a:pPr>
                      <a:endParaRPr lang="en-US" altLang="en-GB" dirty="0"/>
                    </a:p>
                    <a:p>
                      <a:pPr>
                        <a:buNone/>
                      </a:pPr>
                      <a:endParaRPr lang="en-US" altLang="en-GB" dirty="0"/>
                    </a:p>
                    <a:p>
                      <a:pPr>
                        <a:buNone/>
                      </a:pPr>
                      <a:r>
                        <a:rPr lang="en-US" altLang="en-GB" dirty="0"/>
                        <a:t>2017</a:t>
                      </a:r>
                    </a:p>
                  </a:txBody>
                  <a:tcPr/>
                </a:tc>
                <a:tc>
                  <a:txBody>
                    <a:bodyPr/>
                    <a:lstStyle/>
                    <a:p>
                      <a:pPr>
                        <a:buNone/>
                      </a:pPr>
                      <a:r>
                        <a:rPr lang="en-US" altLang="en-GB" dirty="0">
                          <a:latin typeface="Times New Roman" panose="02020603050405020304" pitchFamily="18" charset="0"/>
                          <a:cs typeface="Times New Roman" panose="02020603050405020304" pitchFamily="18" charset="0"/>
                        </a:rPr>
                        <a:t>Speech-to-Text Conversion (STT),Cloud-Based NLP Processing</a:t>
                      </a:r>
                    </a:p>
                    <a:p>
                      <a:pPr>
                        <a:buNone/>
                      </a:pPr>
                      <a:endParaRPr lang="en-US" altLang="en-GB" dirty="0">
                        <a:latin typeface="Times New Roman" panose="02020603050405020304" pitchFamily="18" charset="0"/>
                        <a:cs typeface="Times New Roman" panose="02020603050405020304" pitchFamily="18" charset="0"/>
                      </a:endParaRPr>
                    </a:p>
                  </a:txBody>
                  <a:tcPr/>
                </a:tc>
                <a:tc>
                  <a:txBody>
                    <a:bodyPr/>
                    <a:lstStyle/>
                    <a:p>
                      <a:pPr>
                        <a:buNone/>
                      </a:pPr>
                      <a:r>
                        <a:rPr lang="en-US" altLang="en-GB" dirty="0">
                          <a:latin typeface="Times New Roman" panose="02020603050405020304" pitchFamily="18" charset="0"/>
                          <a:cs typeface="Times New Roman" panose="02020603050405020304" pitchFamily="18" charset="0"/>
                        </a:rPr>
                        <a:t>Speech </a:t>
                      </a:r>
                      <a:r>
                        <a:rPr lang="en-US" altLang="en-GB" dirty="0" err="1">
                          <a:latin typeface="Times New Roman" panose="02020603050405020304" pitchFamily="18" charset="0"/>
                          <a:cs typeface="Times New Roman" panose="02020603050405020304" pitchFamily="18" charset="0"/>
                        </a:rPr>
                        <a:t>Input,Voice</a:t>
                      </a:r>
                      <a:r>
                        <a:rPr lang="en-US" altLang="en-GB" dirty="0">
                          <a:latin typeface="Times New Roman" panose="02020603050405020304" pitchFamily="18" charset="0"/>
                          <a:cs typeface="Times New Roman" panose="02020603050405020304" pitchFamily="18" charset="0"/>
                        </a:rPr>
                        <a:t> Features,</a:t>
                      </a:r>
                    </a:p>
                    <a:p>
                      <a:pPr>
                        <a:buNone/>
                      </a:pPr>
                      <a:r>
                        <a:rPr lang="en-US" altLang="en-GB" dirty="0">
                          <a:latin typeface="Times New Roman" panose="02020603050405020304" pitchFamily="18" charset="0"/>
                          <a:cs typeface="Times New Roman" panose="02020603050405020304" pitchFamily="18" charset="0"/>
                        </a:rPr>
                        <a:t>Language model selection</a:t>
                      </a:r>
                      <a:endParaRPr lang="en-US" altLang="en-GB" dirty="0"/>
                    </a:p>
                    <a:p>
                      <a:pPr>
                        <a:buNone/>
                      </a:pPr>
                      <a:endParaRPr lang="en-US" altLang="en-GB" dirty="0"/>
                    </a:p>
                  </a:txBody>
                  <a:tcPr/>
                </a:tc>
                <a:tc>
                  <a:txBody>
                    <a:bodyPr/>
                    <a:lstStyle/>
                    <a:p>
                      <a:pPr>
                        <a:buNone/>
                      </a:pPr>
                      <a:r>
                        <a:rPr lang="en-US" sz="1800" dirty="0">
                          <a:latin typeface="Times New Roman" panose="02020603050405020304" pitchFamily="18" charset="0"/>
                          <a:cs typeface="Times New Roman" panose="02020603050405020304" pitchFamily="18" charset="0"/>
                          <a:sym typeface="+mn-ea"/>
                        </a:rPr>
                        <a:t>Enhanced Coverage,</a:t>
                      </a:r>
                    </a:p>
                    <a:p>
                      <a:pPr>
                        <a:buNone/>
                      </a:pPr>
                      <a:r>
                        <a:rPr lang="en-US" sz="1800" dirty="0" err="1">
                          <a:latin typeface="Times New Roman" panose="02020603050405020304" pitchFamily="18" charset="0"/>
                          <a:cs typeface="Times New Roman" panose="02020603050405020304" pitchFamily="18" charset="0"/>
                          <a:sym typeface="+mn-ea"/>
                        </a:rPr>
                        <a:t>Redundancy,Low</a:t>
                      </a:r>
                      <a:r>
                        <a:rPr lang="en-US" sz="1800" dirty="0">
                          <a:latin typeface="Times New Roman" panose="02020603050405020304" pitchFamily="18" charset="0"/>
                          <a:cs typeface="Times New Roman" panose="02020603050405020304" pitchFamily="18" charset="0"/>
                          <a:sym typeface="+mn-ea"/>
                        </a:rPr>
                        <a:t> Energy Consumption, Security </a:t>
                      </a:r>
                    </a:p>
                    <a:p>
                      <a:pPr>
                        <a:buNone/>
                      </a:pPr>
                      <a:r>
                        <a:rPr lang="en-US" sz="1800" dirty="0">
                          <a:latin typeface="Times New Roman" panose="02020603050405020304" pitchFamily="18" charset="0"/>
                          <a:cs typeface="Times New Roman" panose="02020603050405020304" pitchFamily="18" charset="0"/>
                          <a:sym typeface="+mn-ea"/>
                        </a:rPr>
                        <a:t>Features</a:t>
                      </a:r>
                      <a:endParaRPr lang="en-US" sz="1800" dirty="0">
                        <a:latin typeface="Times New Roman" panose="02020603050405020304" pitchFamily="18" charset="0"/>
                        <a:cs typeface="Times New Roman" panose="02020603050405020304" pitchFamily="18" charset="0"/>
                      </a:endParaRPr>
                    </a:p>
                    <a:p>
                      <a:pPr>
                        <a:buNone/>
                      </a:pPr>
                      <a:endParaRPr lang="en-GB"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286000">
                <a:tc>
                  <a:txBody>
                    <a:bodyPr/>
                    <a:lstStyle/>
                    <a:p>
                      <a:pPr>
                        <a:buNone/>
                      </a:pPr>
                      <a:r>
                        <a:rPr lang="en-GB" altLang="en-US"/>
                        <a:t>8</a:t>
                      </a:r>
                    </a:p>
                  </a:txBody>
                  <a:tcPr/>
                </a:tc>
                <a:tc>
                  <a:txBody>
                    <a:bodyPr/>
                    <a:lstStyle/>
                    <a:p>
                      <a:pPr>
                        <a:buNone/>
                      </a:pPr>
                      <a:r>
                        <a:rPr lang="en-US" altLang="en-GB"/>
                        <a:t> </a:t>
                      </a:r>
                      <a:r>
                        <a:rPr lang="en-US" altLang="en-GB">
                          <a:latin typeface="Times New Roman" panose="02020603050405020304" pitchFamily="18" charset="0"/>
                          <a:cs typeface="Times New Roman" panose="02020603050405020304" pitchFamily="18" charset="0"/>
                        </a:rPr>
                        <a:t>Low Cost Home Automation Using Offline Speech Recognition</a:t>
                      </a:r>
                    </a:p>
                    <a:p>
                      <a:pPr>
                        <a:buNone/>
                      </a:pPr>
                      <a:endParaRPr lang="en-US" altLang="en-GB">
                        <a:latin typeface="Times New Roman" panose="02020603050405020304" pitchFamily="18" charset="0"/>
                        <a:cs typeface="Times New Roman" panose="02020603050405020304" pitchFamily="18" charset="0"/>
                      </a:endParaRPr>
                    </a:p>
                  </a:txBody>
                  <a:tcPr/>
                </a:tc>
                <a:tc>
                  <a:txBody>
                    <a:bodyPr/>
                    <a:lstStyle/>
                    <a:p>
                      <a:pPr>
                        <a:buNone/>
                      </a:pPr>
                      <a:endParaRPr lang="en-US" altLang="en-GB"/>
                    </a:p>
                    <a:p>
                      <a:pPr>
                        <a:buNone/>
                      </a:pPr>
                      <a:endParaRPr lang="en-US" altLang="en-GB"/>
                    </a:p>
                    <a:p>
                      <a:pPr>
                        <a:buNone/>
                      </a:pPr>
                      <a:r>
                        <a:rPr lang="en-US" altLang="en-GB" sz="2000">
                          <a:latin typeface="Times New Roman" panose="02020603050405020304" pitchFamily="18" charset="0"/>
                          <a:cs typeface="Times New Roman" panose="02020603050405020304" pitchFamily="18" charset="0"/>
                        </a:rPr>
                        <a:t>2014</a:t>
                      </a:r>
                    </a:p>
                  </a:txBody>
                  <a:tcPr/>
                </a:tc>
                <a:tc>
                  <a:txBody>
                    <a:bodyPr/>
                    <a:lstStyle/>
                    <a:p>
                      <a:pPr>
                        <a:buNone/>
                      </a:pPr>
                      <a:r>
                        <a:rPr lang="en-US" altLang="en-GB" dirty="0">
                          <a:latin typeface="Times New Roman" panose="02020603050405020304" pitchFamily="18" charset="0"/>
                          <a:cs typeface="Times New Roman" panose="02020603050405020304" pitchFamily="18" charset="0"/>
                        </a:rPr>
                        <a:t>Offline Speech Recognition,</a:t>
                      </a:r>
                    </a:p>
                    <a:p>
                      <a:pPr>
                        <a:buNone/>
                      </a:pPr>
                      <a:r>
                        <a:rPr lang="en-US" altLang="en-GB" dirty="0">
                          <a:latin typeface="Times New Roman" panose="02020603050405020304" pitchFamily="18" charset="0"/>
                          <a:cs typeface="Times New Roman" panose="02020603050405020304" pitchFamily="18" charset="0"/>
                        </a:rPr>
                        <a:t>Microcontrollers and Single-Board Computers (SBCs)</a:t>
                      </a:r>
                    </a:p>
                    <a:p>
                      <a:pPr>
                        <a:buNone/>
                      </a:pPr>
                      <a:endParaRPr lang="en-US" altLang="en-GB" dirty="0">
                        <a:latin typeface="Times New Roman" panose="02020603050405020304" pitchFamily="18" charset="0"/>
                        <a:cs typeface="Times New Roman" panose="02020603050405020304" pitchFamily="18" charset="0"/>
                      </a:endParaRPr>
                    </a:p>
                  </a:txBody>
                  <a:tcPr/>
                </a:tc>
                <a:tc>
                  <a:txBody>
                    <a:bodyPr/>
                    <a:lstStyle/>
                    <a:p>
                      <a:pPr>
                        <a:buNone/>
                      </a:pPr>
                      <a:r>
                        <a:rPr lang="en-US" altLang="en-GB" dirty="0">
                          <a:latin typeface="Times New Roman" panose="02020603050405020304" pitchFamily="18" charset="0"/>
                          <a:cs typeface="Times New Roman" panose="02020603050405020304" pitchFamily="18" charset="0"/>
                        </a:rPr>
                        <a:t>Wake Word Detection,</a:t>
                      </a:r>
                    </a:p>
                    <a:p>
                      <a:pPr>
                        <a:buNone/>
                      </a:pPr>
                      <a:r>
                        <a:rPr lang="en-US" altLang="en-GB" dirty="0">
                          <a:latin typeface="Times New Roman" panose="02020603050405020304" pitchFamily="18" charset="0"/>
                          <a:cs typeface="Times New Roman" panose="02020603050405020304" pitchFamily="18" charset="0"/>
                        </a:rPr>
                        <a:t>Microphone Quality,</a:t>
                      </a:r>
                    </a:p>
                    <a:p>
                      <a:pPr>
                        <a:buNone/>
                      </a:pPr>
                      <a:r>
                        <a:rPr lang="en-US" altLang="en-GB" dirty="0">
                          <a:latin typeface="Times New Roman" panose="02020603050405020304" pitchFamily="18" charset="0"/>
                          <a:cs typeface="Times New Roman" panose="02020603050405020304" pitchFamily="18" charset="0"/>
                        </a:rPr>
                        <a:t>Embedded Speech Recognition</a:t>
                      </a:r>
                    </a:p>
                  </a:txBody>
                  <a:tcPr/>
                </a:tc>
                <a:tc>
                  <a:txBody>
                    <a:bodyPr/>
                    <a:lstStyle/>
                    <a:p>
                      <a:pPr>
                        <a:buNone/>
                      </a:pPr>
                      <a:r>
                        <a:rPr lang="en-US" sz="1800" dirty="0">
                          <a:latin typeface="Times New Roman" panose="02020603050405020304" pitchFamily="18" charset="0"/>
                          <a:cs typeface="Times New Roman" panose="02020603050405020304" pitchFamily="18" charset="0"/>
                          <a:sym typeface="+mn-ea"/>
                        </a:rPr>
                        <a:t>Light weight and Efficient,</a:t>
                      </a:r>
                    </a:p>
                    <a:p>
                      <a:pPr>
                        <a:buNone/>
                      </a:pPr>
                      <a:r>
                        <a:rPr lang="en-US" sz="1800" dirty="0">
                          <a:latin typeface="Times New Roman" panose="02020603050405020304" pitchFamily="18" charset="0"/>
                          <a:cs typeface="Times New Roman" panose="02020603050405020304" pitchFamily="18" charset="0"/>
                          <a:sym typeface="+mn-ea"/>
                        </a:rPr>
                        <a:t>Flexible Data Handling</a:t>
                      </a:r>
                      <a:endParaRPr lang="en-GB" altLang="en-US"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ltLang="en-US"/>
          </a:p>
        </p:txBody>
      </p:sp>
      <p:graphicFrame>
        <p:nvGraphicFramePr>
          <p:cNvPr id="4" name="Content Placeholder 3"/>
          <p:cNvGraphicFramePr>
            <a:graphicFrameLocks noGrp="1"/>
          </p:cNvGraphicFramePr>
          <p:nvPr>
            <p:ph idx="1"/>
            <p:custDataLst>
              <p:tags r:id="rId1"/>
            </p:custDataLst>
            <p:extLst>
              <p:ext uri="{D42A27DB-BD31-4B8C-83A1-F6EECF244321}">
                <p14:modId xmlns:p14="http://schemas.microsoft.com/office/powerpoint/2010/main" val="3546576234"/>
              </p:ext>
            </p:extLst>
          </p:nvPr>
        </p:nvGraphicFramePr>
        <p:xfrm>
          <a:off x="83184" y="104775"/>
          <a:ext cx="9060815" cy="6607175"/>
        </p:xfrm>
        <a:graphic>
          <a:graphicData uri="http://schemas.openxmlformats.org/drawingml/2006/table">
            <a:tbl>
              <a:tblPr firstRow="1" bandRow="1">
                <a:tableStyleId>{5C22544A-7EE6-4342-B048-85BDC9FD1C3A}</a:tableStyleId>
              </a:tblPr>
              <a:tblGrid>
                <a:gridCol w="845486">
                  <a:extLst>
                    <a:ext uri="{9D8B030D-6E8A-4147-A177-3AD203B41FA5}">
                      <a16:colId xmlns:a16="http://schemas.microsoft.com/office/drawing/2014/main" val="20000"/>
                    </a:ext>
                  </a:extLst>
                </a:gridCol>
                <a:gridCol w="2141553">
                  <a:extLst>
                    <a:ext uri="{9D8B030D-6E8A-4147-A177-3AD203B41FA5}">
                      <a16:colId xmlns:a16="http://schemas.microsoft.com/office/drawing/2014/main" val="20001"/>
                    </a:ext>
                  </a:extLst>
                </a:gridCol>
                <a:gridCol w="1200901">
                  <a:extLst>
                    <a:ext uri="{9D8B030D-6E8A-4147-A177-3AD203B41FA5}">
                      <a16:colId xmlns:a16="http://schemas.microsoft.com/office/drawing/2014/main" val="20002"/>
                    </a:ext>
                  </a:extLst>
                </a:gridCol>
                <a:gridCol w="1786786">
                  <a:extLst>
                    <a:ext uri="{9D8B030D-6E8A-4147-A177-3AD203B41FA5}">
                      <a16:colId xmlns:a16="http://schemas.microsoft.com/office/drawing/2014/main" val="20003"/>
                    </a:ext>
                  </a:extLst>
                </a:gridCol>
                <a:gridCol w="1576385">
                  <a:extLst>
                    <a:ext uri="{9D8B030D-6E8A-4147-A177-3AD203B41FA5}">
                      <a16:colId xmlns:a16="http://schemas.microsoft.com/office/drawing/2014/main" val="20004"/>
                    </a:ext>
                  </a:extLst>
                </a:gridCol>
                <a:gridCol w="1509704">
                  <a:extLst>
                    <a:ext uri="{9D8B030D-6E8A-4147-A177-3AD203B41FA5}">
                      <a16:colId xmlns:a16="http://schemas.microsoft.com/office/drawing/2014/main" val="20005"/>
                    </a:ext>
                  </a:extLst>
                </a:gridCol>
              </a:tblGrid>
              <a:tr h="2076450">
                <a:tc>
                  <a:txBody>
                    <a:bodyPr/>
                    <a:lstStyle/>
                    <a:p>
                      <a:pPr>
                        <a:buNone/>
                      </a:pPr>
                      <a:r>
                        <a:rPr lang="en-GB" altLang="en-US" sz="1800" b="0" dirty="0">
                          <a:solidFill>
                            <a:schemeClr val="tx1"/>
                          </a:solidFill>
                          <a:latin typeface="Times New Roman" panose="02020603050405020304" pitchFamily="18" charset="0"/>
                          <a:cs typeface="Times New Roman" panose="02020603050405020304" pitchFamily="18" charset="0"/>
                        </a:rPr>
                        <a:t>9</a:t>
                      </a:r>
                    </a:p>
                  </a:txBody>
                  <a:tcPr/>
                </a:tc>
                <a:tc>
                  <a:txBody>
                    <a:bodyPr/>
                    <a:lstStyle/>
                    <a:p>
                      <a:pPr>
                        <a:buNone/>
                      </a:pPr>
                      <a:r>
                        <a:rPr lang="en-US" altLang="en-GB" b="0">
                          <a:solidFill>
                            <a:schemeClr val="tx1"/>
                          </a:solidFill>
                          <a:latin typeface="Times New Roman" panose="02020603050405020304" pitchFamily="18" charset="0"/>
                          <a:cs typeface="Times New Roman" panose="02020603050405020304" pitchFamily="18" charset="0"/>
                        </a:rPr>
                        <a:t>Approach to secure internet of things applications using MQTT</a:t>
                      </a:r>
                    </a:p>
                    <a:p>
                      <a:pPr>
                        <a:buNone/>
                      </a:pPr>
                      <a:r>
                        <a:rPr lang="en-US" altLang="en-GB" b="0">
                          <a:solidFill>
                            <a:schemeClr val="tx1"/>
                          </a:solidFill>
                          <a:latin typeface="Times New Roman" panose="02020603050405020304" pitchFamily="18" charset="0"/>
                          <a:cs typeface="Times New Roman" panose="02020603050405020304" pitchFamily="18" charset="0"/>
                        </a:rPr>
                        <a:t> protoc</a:t>
                      </a:r>
                      <a:r>
                        <a:rPr lang="en-US" altLang="en-GB" b="0">
                          <a:solidFill>
                            <a:schemeClr val="tx1"/>
                          </a:solidFill>
                        </a:rPr>
                        <a:t>ol	</a:t>
                      </a:r>
                    </a:p>
                    <a:p>
                      <a:pPr>
                        <a:buNone/>
                      </a:pPr>
                      <a:endParaRPr lang="en-US" altLang="en-GB" b="0">
                        <a:solidFill>
                          <a:schemeClr val="tx1"/>
                        </a:solidFill>
                      </a:endParaRPr>
                    </a:p>
                  </a:txBody>
                  <a:tcPr/>
                </a:tc>
                <a:tc>
                  <a:txBody>
                    <a:bodyPr/>
                    <a:lstStyle/>
                    <a:p>
                      <a:pPr>
                        <a:buNone/>
                      </a:pPr>
                      <a:endParaRPr lang="en-US" altLang="en-GB" sz="2400" dirty="0">
                        <a:solidFill>
                          <a:schemeClr val="tx1"/>
                        </a:solidFill>
                        <a:latin typeface="Times New Roman" panose="02020603050405020304" pitchFamily="18" charset="0"/>
                        <a:cs typeface="Times New Roman" panose="02020603050405020304" pitchFamily="18" charset="0"/>
                      </a:endParaRPr>
                    </a:p>
                    <a:p>
                      <a:pPr>
                        <a:buNone/>
                      </a:pPr>
                      <a:r>
                        <a:rPr lang="en-US" altLang="en-GB" sz="2400" b="0" dirty="0">
                          <a:solidFill>
                            <a:schemeClr val="tx1"/>
                          </a:solidFill>
                          <a:latin typeface="Times New Roman" panose="02020603050405020304" pitchFamily="18" charset="0"/>
                          <a:cs typeface="Times New Roman" panose="02020603050405020304" pitchFamily="18" charset="0"/>
                        </a:rPr>
                        <a:t>2021</a:t>
                      </a:r>
                    </a:p>
                  </a:txBody>
                  <a:tcPr/>
                </a:tc>
                <a:tc>
                  <a:txBody>
                    <a:bodyPr/>
                    <a:lstStyle/>
                    <a:p>
                      <a:pPr>
                        <a:buNone/>
                      </a:pPr>
                      <a:r>
                        <a:rPr lang="en-US" altLang="en-GB" b="0" dirty="0">
                          <a:solidFill>
                            <a:schemeClr val="tx1"/>
                          </a:solidFill>
                        </a:rPr>
                        <a:t>secure IoT</a:t>
                      </a:r>
                      <a:r>
                        <a:rPr lang="en-US" altLang="en-GB" dirty="0">
                          <a:solidFill>
                            <a:schemeClr val="tx1"/>
                          </a:solidFill>
                        </a:rPr>
                        <a:t> </a:t>
                      </a:r>
                      <a:r>
                        <a:rPr lang="en-US" altLang="en-GB" b="0" dirty="0">
                          <a:solidFill>
                            <a:schemeClr val="tx1"/>
                          </a:solidFill>
                        </a:rPr>
                        <a:t>application using MQTT </a:t>
                      </a:r>
                      <a:r>
                        <a:rPr lang="en-US" altLang="en-GB" b="0" dirty="0" err="1">
                          <a:solidFill>
                            <a:schemeClr val="tx1"/>
                          </a:solidFill>
                        </a:rPr>
                        <a:t>protoco</a:t>
                      </a:r>
                      <a:r>
                        <a:rPr lang="en-GB" altLang="en-US" b="0" dirty="0">
                          <a:solidFill>
                            <a:schemeClr val="tx1"/>
                          </a:solidFill>
                        </a:rPr>
                        <a:t>l</a:t>
                      </a:r>
                    </a:p>
                  </a:txBody>
                  <a:tcPr/>
                </a:tc>
                <a:tc>
                  <a:txBody>
                    <a:bodyPr/>
                    <a:lstStyle/>
                    <a:p>
                      <a:pPr>
                        <a:buNone/>
                      </a:pPr>
                      <a:r>
                        <a:rPr lang="en-US" altLang="en-GB" b="0" dirty="0">
                          <a:solidFill>
                            <a:schemeClr val="tx1"/>
                          </a:solidFill>
                          <a:latin typeface="Times New Roman" panose="02020603050405020304" pitchFamily="18" charset="0"/>
                          <a:cs typeface="Times New Roman" panose="02020603050405020304" pitchFamily="18" charset="0"/>
                        </a:rPr>
                        <a:t>MQTT Protocol,</a:t>
                      </a:r>
                    </a:p>
                    <a:p>
                      <a:pPr>
                        <a:buNone/>
                      </a:pPr>
                      <a:r>
                        <a:rPr lang="en-US" altLang="en-GB" b="0" dirty="0" err="1">
                          <a:solidFill>
                            <a:schemeClr val="tx1"/>
                          </a:solidFill>
                          <a:latin typeface="Times New Roman" panose="02020603050405020304" pitchFamily="18" charset="0"/>
                          <a:cs typeface="Times New Roman" panose="02020603050405020304" pitchFamily="18" charset="0"/>
                        </a:rPr>
                        <a:t>Authentication,Encryption</a:t>
                      </a:r>
                      <a:r>
                        <a:rPr lang="en-US" altLang="en-GB" b="0" dirty="0">
                          <a:solidFill>
                            <a:schemeClr val="tx1"/>
                          </a:solidFill>
                          <a:latin typeface="Times New Roman" panose="02020603050405020304" pitchFamily="18" charset="0"/>
                          <a:cs typeface="Times New Roman" panose="02020603050405020304" pitchFamily="18" charset="0"/>
                        </a:rPr>
                        <a:t>,</a:t>
                      </a:r>
                    </a:p>
                    <a:p>
                      <a:pPr>
                        <a:buNone/>
                      </a:pPr>
                      <a:r>
                        <a:rPr lang="en-US" altLang="en-GB" b="0" dirty="0">
                          <a:solidFill>
                            <a:schemeClr val="tx1"/>
                          </a:solidFill>
                          <a:latin typeface="Times New Roman" panose="02020603050405020304" pitchFamily="18" charset="0"/>
                          <a:cs typeface="Times New Roman" panose="02020603050405020304" pitchFamily="18" charset="0"/>
                        </a:rPr>
                        <a:t>Quality of Service (QoS</a:t>
                      </a:r>
                      <a:r>
                        <a:rPr lang="en-US" altLang="en-GB" b="0" dirty="0">
                          <a:solidFill>
                            <a:schemeClr val="tx1"/>
                          </a:solidFill>
                        </a:rPr>
                        <a:t>)</a:t>
                      </a:r>
                    </a:p>
                  </a:txBody>
                  <a:tcPr/>
                </a:tc>
                <a:tc>
                  <a:txBody>
                    <a:bodyPr/>
                    <a:lstStyle/>
                    <a:p>
                      <a:pPr>
                        <a:buNone/>
                      </a:pPr>
                      <a:r>
                        <a:rPr lang="en-US" altLang="en-GB" sz="2000" b="0" dirty="0" err="1">
                          <a:solidFill>
                            <a:schemeClr val="tx1"/>
                          </a:solidFill>
                          <a:latin typeface="Times New Roman" panose="02020603050405020304" pitchFamily="18" charset="0"/>
                          <a:cs typeface="Times New Roman" panose="02020603050405020304" pitchFamily="18" charset="0"/>
                        </a:rPr>
                        <a:t>realtime</a:t>
                      </a:r>
                      <a:r>
                        <a:rPr lang="en-US" altLang="en-US" sz="2000" b="0" dirty="0">
                          <a:solidFill>
                            <a:schemeClr val="tx1"/>
                          </a:solidFill>
                          <a:latin typeface="Times New Roman" panose="02020603050405020304" pitchFamily="18" charset="0"/>
                          <a:cs typeface="Times New Roman" panose="02020603050405020304" pitchFamily="18" charset="0"/>
                        </a:rPr>
                        <a:t> </a:t>
                      </a:r>
                    </a:p>
                    <a:p>
                      <a:pPr>
                        <a:buNone/>
                      </a:pPr>
                      <a:r>
                        <a:rPr lang="en-US" altLang="en-US" sz="2000" b="0" dirty="0">
                          <a:solidFill>
                            <a:schemeClr val="tx1"/>
                          </a:solidFill>
                          <a:latin typeface="Times New Roman" panose="02020603050405020304" pitchFamily="18" charset="0"/>
                          <a:cs typeface="Times New Roman" panose="02020603050405020304" pitchFamily="18" charset="0"/>
                        </a:rPr>
                        <a:t>Applications</a:t>
                      </a:r>
                    </a:p>
                  </a:txBody>
                  <a:tcPr/>
                </a:tc>
                <a:extLst>
                  <a:ext uri="{0D108BD9-81ED-4DB2-BD59-A6C34878D82A}">
                    <a16:rowId xmlns:a16="http://schemas.microsoft.com/office/drawing/2014/main" val="10000"/>
                  </a:ext>
                </a:extLst>
              </a:tr>
              <a:tr h="2731770">
                <a:tc>
                  <a:txBody>
                    <a:bodyPr/>
                    <a:lstStyle/>
                    <a:p>
                      <a:pPr>
                        <a:buNone/>
                      </a:pPr>
                      <a:r>
                        <a:rPr lang="en-GB" altLang="en-US" sz="1800" b="0" dirty="0">
                          <a:latin typeface="Times New Roman" panose="02020603050405020304" pitchFamily="18" charset="0"/>
                          <a:cs typeface="Times New Roman" panose="02020603050405020304" pitchFamily="18" charset="0"/>
                        </a:rPr>
                        <a:t>10</a:t>
                      </a:r>
                    </a:p>
                  </a:txBody>
                  <a:tcPr/>
                </a:tc>
                <a:tc>
                  <a:txBody>
                    <a:bodyPr/>
                    <a:lstStyle/>
                    <a:p>
                      <a:pPr>
                        <a:buNone/>
                      </a:pPr>
                      <a:r>
                        <a:rPr lang="en-US" altLang="en-GB">
                          <a:latin typeface="Times New Roman" panose="02020603050405020304" pitchFamily="18" charset="0"/>
                          <a:cs typeface="Times New Roman" panose="02020603050405020304" pitchFamily="18" charset="0"/>
                        </a:rPr>
                        <a:t>Review on Security in Bluetooth Low Energy Mesh Network in</a:t>
                      </a:r>
                    </a:p>
                    <a:p>
                      <a:pPr>
                        <a:buNone/>
                      </a:pPr>
                      <a:r>
                        <a:rPr lang="en-US" altLang="en-GB">
                          <a:latin typeface="Times New Roman" panose="02020603050405020304" pitchFamily="18" charset="0"/>
                          <a:cs typeface="Times New Roman" panose="02020603050405020304" pitchFamily="18" charset="0"/>
                        </a:rPr>
                        <a:t>Correlation with Wireless Mesh Network Security</a:t>
                      </a:r>
                    </a:p>
                  </a:txBody>
                  <a:tcPr/>
                </a:tc>
                <a:tc>
                  <a:txBody>
                    <a:bodyPr/>
                    <a:lstStyle/>
                    <a:p>
                      <a:pPr>
                        <a:buNone/>
                      </a:pPr>
                      <a:endParaRPr lang="en-US" altLang="en-GB" sz="2400">
                        <a:latin typeface="Times New Roman" panose="02020603050405020304" pitchFamily="18" charset="0"/>
                        <a:cs typeface="Times New Roman" panose="02020603050405020304" pitchFamily="18" charset="0"/>
                      </a:endParaRPr>
                    </a:p>
                    <a:p>
                      <a:pPr>
                        <a:buNone/>
                      </a:pPr>
                      <a:r>
                        <a:rPr lang="en-US" altLang="en-GB" sz="2400">
                          <a:latin typeface="Times New Roman" panose="02020603050405020304" pitchFamily="18" charset="0"/>
                          <a:cs typeface="Times New Roman" panose="02020603050405020304" pitchFamily="18" charset="0"/>
                        </a:rPr>
                        <a:t>2019</a:t>
                      </a:r>
                    </a:p>
                  </a:txBody>
                  <a:tcPr/>
                </a:tc>
                <a:tc>
                  <a:txBody>
                    <a:bodyPr/>
                    <a:lstStyle/>
                    <a:p>
                      <a:pPr>
                        <a:buNone/>
                      </a:pPr>
                      <a:r>
                        <a:rPr lang="en-US" altLang="en-GB"/>
                        <a:t> security review of Bluetooth Low Energy mesh networks</a:t>
                      </a:r>
                    </a:p>
                    <a:p>
                      <a:pPr>
                        <a:buNone/>
                      </a:pPr>
                      <a:endParaRPr lang="en-US" altLang="en-GB"/>
                    </a:p>
                  </a:txBody>
                  <a:tcPr/>
                </a:tc>
                <a:tc>
                  <a:txBody>
                    <a:bodyPr/>
                    <a:lstStyle/>
                    <a:p>
                      <a:pPr>
                        <a:buNone/>
                      </a:pPr>
                      <a:r>
                        <a:rPr lang="en-US" altLang="en-GB" dirty="0"/>
                        <a:t>Mesh Networking Topology,</a:t>
                      </a:r>
                    </a:p>
                    <a:p>
                      <a:pPr>
                        <a:buNone/>
                      </a:pPr>
                      <a:r>
                        <a:rPr lang="en-US" altLang="en-GB" dirty="0"/>
                        <a:t>Security Mechanisms,</a:t>
                      </a:r>
                    </a:p>
                    <a:p>
                      <a:pPr>
                        <a:buNone/>
                      </a:pPr>
                      <a:r>
                        <a:rPr lang="en-US" altLang="en-GB" dirty="0"/>
                        <a:t>Key Distribution,</a:t>
                      </a:r>
                    </a:p>
                    <a:p>
                      <a:pPr>
                        <a:buNone/>
                      </a:pPr>
                      <a:r>
                        <a:rPr lang="en-US" altLang="en-GB" dirty="0"/>
                        <a:t>Device</a:t>
                      </a:r>
                    </a:p>
                  </a:txBody>
                  <a:tcPr/>
                </a:tc>
                <a:tc>
                  <a:txBody>
                    <a:bodyPr/>
                    <a:lstStyle/>
                    <a:p>
                      <a:pPr>
                        <a:buNone/>
                      </a:pPr>
                      <a:r>
                        <a:rPr lang="en-US" dirty="0"/>
                        <a:t>Increased Efficiency,</a:t>
                      </a:r>
                    </a:p>
                    <a:p>
                      <a:pPr>
                        <a:buNone/>
                      </a:pPr>
                      <a:r>
                        <a:rPr lang="en-US" dirty="0"/>
                        <a:t>Enhanced </a:t>
                      </a:r>
                    </a:p>
                    <a:p>
                      <a:pPr>
                        <a:buNone/>
                      </a:pPr>
                      <a:r>
                        <a:rPr lang="en-US" dirty="0"/>
                        <a:t>Comfort</a:t>
                      </a:r>
                    </a:p>
                  </a:txBody>
                  <a:tcPr/>
                </a:tc>
                <a:extLst>
                  <a:ext uri="{0D108BD9-81ED-4DB2-BD59-A6C34878D82A}">
                    <a16:rowId xmlns:a16="http://schemas.microsoft.com/office/drawing/2014/main" val="10001"/>
                  </a:ext>
                </a:extLst>
              </a:tr>
              <a:tr h="1798955">
                <a:tc>
                  <a:txBody>
                    <a:bodyPr/>
                    <a:lstStyle/>
                    <a:p>
                      <a:pPr>
                        <a:buNone/>
                      </a:pPr>
                      <a:endParaRPr lang="en-GB" altLang="en-US"/>
                    </a:p>
                  </a:txBody>
                  <a:tcPr/>
                </a:tc>
                <a:tc>
                  <a:txBody>
                    <a:bodyPr/>
                    <a:lstStyle/>
                    <a:p>
                      <a:pPr>
                        <a:buNone/>
                      </a:pPr>
                      <a:endParaRPr lang="en-GB" altLang="en-US" dirty="0"/>
                    </a:p>
                  </a:txBody>
                  <a:tcPr/>
                </a:tc>
                <a:tc>
                  <a:txBody>
                    <a:bodyPr/>
                    <a:lstStyle/>
                    <a:p>
                      <a:pPr>
                        <a:buNone/>
                      </a:pPr>
                      <a:endParaRPr lang="en-GB" altLang="en-US"/>
                    </a:p>
                  </a:txBody>
                  <a:tcPr/>
                </a:tc>
                <a:tc>
                  <a:txBody>
                    <a:bodyPr/>
                    <a:lstStyle/>
                    <a:p>
                      <a:pPr>
                        <a:buNone/>
                      </a:pPr>
                      <a:endParaRPr lang="en-GB" altLang="en-US"/>
                    </a:p>
                  </a:txBody>
                  <a:tcPr/>
                </a:tc>
                <a:tc>
                  <a:txBody>
                    <a:bodyPr/>
                    <a:lstStyle/>
                    <a:p>
                      <a:pPr>
                        <a:buNone/>
                      </a:pPr>
                      <a:endParaRPr lang="en-GB" altLang="en-US"/>
                    </a:p>
                  </a:txBody>
                  <a:tcPr/>
                </a:tc>
                <a:tc>
                  <a:txBody>
                    <a:bodyPr/>
                    <a:lstStyle/>
                    <a:p>
                      <a:pPr>
                        <a:buNone/>
                      </a:pPr>
                      <a:endParaRPr lang="en-GB" altLang="en-US"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9250"/>
            <a:ext cx="8229600" cy="1124585"/>
          </a:xfrm>
        </p:spPr>
        <p:txBody>
          <a:bodyPr/>
          <a:lstStyle/>
          <a:p>
            <a:r>
              <a:rPr lang="en-US" sz="4000" b="1" dirty="0">
                <a:latin typeface="Times New Roman" panose="02020603050405020304" pitchFamily="18" charset="0"/>
                <a:cs typeface="Times New Roman" panose="02020603050405020304" pitchFamily="18" charset="0"/>
                <a:sym typeface="+mn-ea"/>
              </a:rPr>
              <a:t>4.EXISTING SYSTEM</a:t>
            </a:r>
            <a:endParaRPr lang="en-US" altLang="en-US" sz="4000" b="1" dirty="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0" y="685800"/>
            <a:ext cx="9032240" cy="6097270"/>
          </a:xfrm>
        </p:spPr>
        <p:txBody>
          <a:bodyPr>
            <a:noAutofit/>
          </a:bodyPr>
          <a:lstStyle/>
          <a:p>
            <a:pPr marL="0" indent="0" algn="just">
              <a:buNone/>
            </a:pPr>
            <a:r>
              <a:rPr lang="en-US" altLang="en-GB" sz="1900" dirty="0">
                <a:latin typeface="Times New Roman" panose="02020603050405020304" pitchFamily="18" charset="0"/>
                <a:cs typeface="Times New Roman" panose="02020603050405020304" pitchFamily="18" charset="0"/>
              </a:rPr>
              <a:t>Existing home automation systems are designed to provide users with convenience, security, and energy efficiency by enabling remote control of home appliances and monitoring energy usage. Key components and functionalities of these systems include:</a:t>
            </a:r>
          </a:p>
          <a:p>
            <a:pPr algn="just"/>
            <a:r>
              <a:rPr lang="en-US" altLang="en-GB" sz="2000" b="1" dirty="0">
                <a:latin typeface="Times New Roman" panose="02020603050405020304" pitchFamily="18" charset="0"/>
                <a:cs typeface="Times New Roman" panose="02020603050405020304" pitchFamily="18" charset="0"/>
              </a:rPr>
              <a:t>Voice Processing</a:t>
            </a:r>
            <a:r>
              <a:rPr lang="en-US" altLang="en-GB" sz="2000" dirty="0">
                <a:latin typeface="Times New Roman" panose="02020603050405020304" pitchFamily="18" charset="0"/>
                <a:cs typeface="Times New Roman" panose="02020603050405020304" pitchFamily="18" charset="0"/>
              </a:rPr>
              <a:t>: These systems often use voice recognition services provided by cloud platforms like Google Assistant, Amazon Alexa, or Microsoft Cortana. Voice commands are sent to these cloud services for processing, which then control the connected devices.</a:t>
            </a:r>
          </a:p>
          <a:p>
            <a:pPr algn="just"/>
            <a:r>
              <a:rPr lang="en-US" altLang="en-GB" sz="2000" b="1" dirty="0">
                <a:latin typeface="Times New Roman" panose="02020603050405020304" pitchFamily="18" charset="0"/>
                <a:cs typeface="Times New Roman" panose="02020603050405020304" pitchFamily="18" charset="0"/>
              </a:rPr>
              <a:t>Connectivity</a:t>
            </a:r>
            <a:r>
              <a:rPr lang="en-US" altLang="en-GB" sz="2000" dirty="0">
                <a:latin typeface="Times New Roman" panose="02020603050405020304" pitchFamily="18" charset="0"/>
                <a:cs typeface="Times New Roman" panose="02020603050405020304" pitchFamily="18" charset="0"/>
              </a:rPr>
              <a:t>: Devices in the system communicate through Wi-Fi, Bluetooth a stable internet connection is essential for these systems to function effectively, as the cloud-based voice processing and control depend on it.</a:t>
            </a:r>
          </a:p>
          <a:p>
            <a:pPr algn="just"/>
            <a:r>
              <a:rPr lang="en-US" altLang="en-GB" sz="2000" b="1" dirty="0">
                <a:latin typeface="Times New Roman" panose="02020603050405020304" pitchFamily="18" charset="0"/>
                <a:cs typeface="Times New Roman" panose="02020603050405020304" pitchFamily="18" charset="0"/>
              </a:rPr>
              <a:t>Mobile App Integration</a:t>
            </a:r>
            <a:r>
              <a:rPr lang="en-US" altLang="en-GB" sz="2000" dirty="0">
                <a:latin typeface="Times New Roman" panose="02020603050405020304" pitchFamily="18" charset="0"/>
                <a:cs typeface="Times New Roman" panose="02020603050405020304" pitchFamily="18" charset="0"/>
              </a:rPr>
              <a:t>: Users can control their home appliances through mobile applications that interface with the cloud services. These apps allow users to send commands, monitor device status, and receive alerts.</a:t>
            </a:r>
          </a:p>
          <a:p>
            <a:pPr algn="just"/>
            <a:endParaRPr lang="en-US" altLang="en-GB" sz="2000" dirty="0">
              <a:latin typeface="Times New Roman" panose="02020603050405020304" pitchFamily="18" charset="0"/>
              <a:cs typeface="Times New Roman" panose="02020603050405020304" pitchFamily="18" charset="0"/>
            </a:endParaRPr>
          </a:p>
          <a:p>
            <a:pPr algn="just"/>
            <a:endParaRPr lang="en-US" altLang="en-GB"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08C3F-7D15-90E0-1956-854B60818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EA9E4-CE9B-AEF3-9B0B-34BFD3CA0C73}"/>
              </a:ext>
            </a:extLst>
          </p:cNvPr>
          <p:cNvSpPr>
            <a:spLocks noGrp="1"/>
          </p:cNvSpPr>
          <p:nvPr>
            <p:ph type="title"/>
          </p:nvPr>
        </p:nvSpPr>
        <p:spPr>
          <a:xfrm>
            <a:off x="457200" y="-533400"/>
            <a:ext cx="8229600" cy="1828800"/>
          </a:xfrm>
        </p:spPr>
        <p:txBody>
          <a:bodyPr>
            <a:normAutofit/>
          </a:bodyPr>
          <a:lstStyle/>
          <a:p>
            <a:r>
              <a:rPr lang="en-US" sz="3600" b="1" dirty="0">
                <a:latin typeface="Times New Roman" panose="02020603050405020304" pitchFamily="18" charset="0"/>
                <a:cs typeface="Times New Roman" panose="02020603050405020304" pitchFamily="18" charset="0"/>
              </a:rPr>
              <a:t>5.EXISTING BLOCK DIAGRAM</a:t>
            </a:r>
            <a:endParaRPr lang="en-IN" sz="3600"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9E48AEC1-76FE-210C-84E9-262CC6EEB5FD}"/>
              </a:ext>
            </a:extLst>
          </p:cNvPr>
          <p:cNvPicPr>
            <a:picLocks noGrp="1" noChangeAspect="1"/>
          </p:cNvPicPr>
          <p:nvPr>
            <p:ph idx="1"/>
          </p:nvPr>
        </p:nvPicPr>
        <p:blipFill>
          <a:blip r:embed="rId2"/>
          <a:stretch>
            <a:fillRect/>
          </a:stretch>
        </p:blipFill>
        <p:spPr>
          <a:xfrm>
            <a:off x="-17456" y="762000"/>
            <a:ext cx="8704255" cy="5881629"/>
          </a:xfrm>
        </p:spPr>
      </p:pic>
    </p:spTree>
    <p:extLst>
      <p:ext uri="{BB962C8B-B14F-4D97-AF65-F5344CB8AC3E}">
        <p14:creationId xmlns:p14="http://schemas.microsoft.com/office/powerpoint/2010/main" val="1658868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DE578-EB10-E786-216F-8CA18F2815BE}"/>
              </a:ext>
            </a:extLst>
          </p:cNvPr>
          <p:cNvSpPr>
            <a:spLocks noGrp="1"/>
          </p:cNvSpPr>
          <p:nvPr>
            <p:ph type="title"/>
          </p:nvPr>
        </p:nvSpPr>
        <p:spPr>
          <a:xfrm>
            <a:off x="-1143000" y="-533400"/>
            <a:ext cx="9829800" cy="1676400"/>
          </a:xfrm>
        </p:spPr>
        <p:txBody>
          <a:bodyPr>
            <a:normAutofit/>
          </a:bodyPr>
          <a:lstStyle/>
          <a:p>
            <a:r>
              <a:rPr lang="en-US" sz="3600" b="1" dirty="0">
                <a:latin typeface="Times New Roman" panose="02020603050405020304" pitchFamily="18" charset="0"/>
                <a:cs typeface="Times New Roman" panose="02020603050405020304" pitchFamily="18" charset="0"/>
              </a:rPr>
              <a:t>Speech Recognition Process</a:t>
            </a:r>
            <a:endParaRPr lang="en-IN" sz="36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8E10CE9E-D2A3-E81A-522F-2428BEB1F9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164" y="685799"/>
            <a:ext cx="8805671" cy="6172201"/>
          </a:xfrm>
        </p:spPr>
      </p:pic>
    </p:spTree>
    <p:extLst>
      <p:ext uri="{BB962C8B-B14F-4D97-AF65-F5344CB8AC3E}">
        <p14:creationId xmlns:p14="http://schemas.microsoft.com/office/powerpoint/2010/main" val="1485063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78B27-187C-7115-947E-DE81186BC7FC}"/>
              </a:ext>
            </a:extLst>
          </p:cNvPr>
          <p:cNvSpPr>
            <a:spLocks noGrp="1"/>
          </p:cNvSpPr>
          <p:nvPr>
            <p:ph type="title"/>
          </p:nvPr>
        </p:nvSpPr>
        <p:spPr>
          <a:xfrm>
            <a:off x="-4038600" y="-457200"/>
            <a:ext cx="12725400" cy="1371600"/>
          </a:xfrm>
        </p:spPr>
        <p:txBody>
          <a:bodyPr>
            <a:normAutofit/>
          </a:bodyPr>
          <a:lstStyle/>
          <a:p>
            <a:r>
              <a:rPr lang="en-IN" sz="3600" b="1" dirty="0">
                <a:latin typeface="Times New Roman" panose="02020603050405020304" pitchFamily="18" charset="0"/>
                <a:cs typeface="Times New Roman" panose="02020603050405020304" pitchFamily="18" charset="0"/>
              </a:rPr>
              <a:t>System Architecture</a:t>
            </a:r>
          </a:p>
        </p:txBody>
      </p:sp>
      <p:pic>
        <p:nvPicPr>
          <p:cNvPr id="7" name="Content Placeholder 6">
            <a:extLst>
              <a:ext uri="{FF2B5EF4-FFF2-40B4-BE49-F238E27FC236}">
                <a16:creationId xmlns:a16="http://schemas.microsoft.com/office/drawing/2014/main" id="{823EE265-4062-1366-9CDF-1DA0BDFA10BD}"/>
              </a:ext>
            </a:extLst>
          </p:cNvPr>
          <p:cNvPicPr>
            <a:picLocks noGrp="1" noChangeAspect="1"/>
          </p:cNvPicPr>
          <p:nvPr>
            <p:ph idx="1"/>
          </p:nvPr>
        </p:nvPicPr>
        <p:blipFill>
          <a:blip r:embed="rId2"/>
          <a:stretch>
            <a:fillRect/>
          </a:stretch>
        </p:blipFill>
        <p:spPr>
          <a:xfrm>
            <a:off x="914400" y="685800"/>
            <a:ext cx="6783483" cy="6096000"/>
          </a:xfrm>
        </p:spPr>
      </p:pic>
    </p:spTree>
    <p:extLst>
      <p:ext uri="{BB962C8B-B14F-4D97-AF65-F5344CB8AC3E}">
        <p14:creationId xmlns:p14="http://schemas.microsoft.com/office/powerpoint/2010/main" val="1743207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53695"/>
            <a:ext cx="8229600" cy="722630"/>
          </a:xfrm>
        </p:spPr>
        <p:txBody>
          <a:bodyPr>
            <a:normAutofit fontScale="90000"/>
          </a:bodyPr>
          <a:lstStyle/>
          <a:p>
            <a:r>
              <a:rPr lang="en-GB" altLang="en-US" sz="3600" b="1" dirty="0">
                <a:latin typeface="Times New Roman" panose="02020603050405020304" pitchFamily="18" charset="0"/>
                <a:cs typeface="Times New Roman" panose="02020603050405020304" pitchFamily="18" charset="0"/>
              </a:rPr>
              <a:t>6.</a:t>
            </a:r>
            <a:r>
              <a:rPr lang="en-US" sz="3600" b="1" dirty="0">
                <a:latin typeface="Times New Roman" panose="02020603050405020304" pitchFamily="18" charset="0"/>
                <a:cs typeface="Times New Roman" panose="02020603050405020304" pitchFamily="18" charset="0"/>
              </a:rPr>
              <a:t>EXISTING SYSTEM DRAWBACKS</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11125" y="990600"/>
            <a:ext cx="8575675" cy="5662930"/>
          </a:xfrm>
        </p:spPr>
        <p:txBody>
          <a:bodyPr>
            <a:noAutofit/>
          </a:bodyPr>
          <a:lstStyle/>
          <a:p>
            <a:r>
              <a:rPr lang="en-US" sz="2800" dirty="0">
                <a:latin typeface="Times New Roman" panose="02020603050405020304" pitchFamily="18" charset="0"/>
                <a:cs typeface="Times New Roman" panose="02020603050405020304" pitchFamily="18" charset="0"/>
              </a:rPr>
              <a:t>Limited Processing Power</a:t>
            </a:r>
          </a:p>
          <a:p>
            <a:r>
              <a:rPr lang="en-US" sz="2800" dirty="0">
                <a:latin typeface="Times New Roman" panose="02020603050405020304" pitchFamily="18" charset="0"/>
                <a:cs typeface="Times New Roman" panose="02020603050405020304" pitchFamily="18" charset="0"/>
              </a:rPr>
              <a:t> Insufficient Memory </a:t>
            </a:r>
          </a:p>
          <a:p>
            <a:r>
              <a:rPr lang="en-US" sz="2800" dirty="0">
                <a:latin typeface="Times New Roman" panose="02020603050405020304" pitchFamily="18" charset="0"/>
                <a:cs typeface="Times New Roman" panose="02020603050405020304" pitchFamily="18" charset="0"/>
              </a:rPr>
              <a:t> No Native Audio Processing Capability</a:t>
            </a:r>
          </a:p>
          <a:p>
            <a:r>
              <a:rPr lang="en-US" sz="2800" dirty="0">
                <a:latin typeface="Times New Roman" panose="02020603050405020304" pitchFamily="18" charset="0"/>
                <a:cs typeface="Times New Roman" panose="02020603050405020304" pitchFamily="18" charset="0"/>
              </a:rPr>
              <a:t> Dependency on External Modules </a:t>
            </a:r>
          </a:p>
          <a:p>
            <a:r>
              <a:rPr lang="en-US" sz="2800" dirty="0">
                <a:latin typeface="Times New Roman" panose="02020603050405020304" pitchFamily="18" charset="0"/>
                <a:cs typeface="Times New Roman" panose="02020603050405020304" pitchFamily="18" charset="0"/>
              </a:rPr>
              <a:t>Power consumption issues</a:t>
            </a:r>
          </a:p>
          <a:p>
            <a:r>
              <a:rPr lang="en-US" sz="2800" dirty="0">
                <a:latin typeface="Times New Roman" panose="02020603050405020304" pitchFamily="18" charset="0"/>
                <a:cs typeface="Times New Roman" panose="02020603050405020304" pitchFamily="18" charset="0"/>
              </a:rPr>
              <a:t>Security Risks </a:t>
            </a:r>
          </a:p>
          <a:p>
            <a:endParaRPr lang="en-US" sz="28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nvSpPr>
        <p:spPr>
          <a:xfrm>
            <a:off x="149860" y="506730"/>
            <a:ext cx="8810625" cy="591693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3980"/>
            <a:ext cx="8229600" cy="704215"/>
          </a:xfrm>
        </p:spPr>
        <p:txBody>
          <a:bodyPr>
            <a:normAutofit fontScale="90000"/>
          </a:bodyPr>
          <a:lstStyle/>
          <a:p>
            <a:r>
              <a:rPr lang="en-US" sz="3555" b="1" dirty="0">
                <a:latin typeface="Times New Roman" panose="02020603050405020304" pitchFamily="18" charset="0"/>
                <a:cs typeface="Times New Roman" panose="02020603050405020304" pitchFamily="18" charset="0"/>
                <a:sym typeface="+mn-ea"/>
              </a:rPr>
              <a:t>7.PROPOSED SYSTEM NECESSITY</a:t>
            </a:r>
            <a:br>
              <a:rPr lang="en-US" sz="3555" b="1" dirty="0">
                <a:latin typeface="Times New Roman" panose="02020603050405020304" pitchFamily="18" charset="0"/>
                <a:cs typeface="Times New Roman" panose="02020603050405020304" pitchFamily="18" charset="0"/>
                <a:sym typeface="+mn-ea"/>
              </a:rPr>
            </a:br>
            <a:r>
              <a:rPr lang="en-US" sz="3555" b="1" dirty="0">
                <a:latin typeface="Times New Roman" panose="02020603050405020304" pitchFamily="18" charset="0"/>
                <a:cs typeface="Times New Roman" panose="02020603050405020304" pitchFamily="18" charset="0"/>
                <a:sym typeface="+mn-ea"/>
              </a:rPr>
              <a:t>(Problem Identification)</a:t>
            </a:r>
          </a:p>
        </p:txBody>
      </p:sp>
      <p:sp>
        <p:nvSpPr>
          <p:cNvPr id="3" name="Content Placeholder 2"/>
          <p:cNvSpPr>
            <a:spLocks noGrp="1"/>
          </p:cNvSpPr>
          <p:nvPr>
            <p:ph idx="1"/>
          </p:nvPr>
        </p:nvSpPr>
        <p:spPr>
          <a:xfrm>
            <a:off x="-76199" y="914400"/>
            <a:ext cx="9220200" cy="5833745"/>
          </a:xfrm>
        </p:spPr>
        <p:txBody>
          <a:bodyPr>
            <a:noAutofit/>
          </a:bodyPr>
          <a:lstStyle/>
          <a:p>
            <a:pPr algn="just"/>
            <a:r>
              <a:rPr lang="en-US" altLang="en-GB" sz="2000" dirty="0">
                <a:latin typeface="Times New Roman" panose="02020603050405020304" pitchFamily="18" charset="0"/>
                <a:cs typeface="Times New Roman" panose="02020603050405020304" pitchFamily="18" charset="0"/>
              </a:rPr>
              <a:t>The proposed  home automation system significantly enhances security, privacy, and functionality compared to existing cloud-based systems. It offers:</a:t>
            </a:r>
          </a:p>
          <a:p>
            <a:pPr algn="just"/>
            <a:r>
              <a:rPr lang="en-US" altLang="en-GB" sz="2000" b="1" dirty="0">
                <a:latin typeface="Times New Roman" panose="02020603050405020304" pitchFamily="18" charset="0"/>
                <a:cs typeface="Times New Roman" panose="02020603050405020304" pitchFamily="18" charset="0"/>
              </a:rPr>
              <a:t>Enhanced Security and Privacy</a:t>
            </a:r>
            <a:r>
              <a:rPr lang="en-US" altLang="en-GB" sz="2000" dirty="0">
                <a:latin typeface="Times New Roman" panose="02020603050405020304" pitchFamily="18" charset="0"/>
                <a:cs typeface="Times New Roman" panose="02020603050405020304" pitchFamily="18" charset="0"/>
              </a:rPr>
              <a:t>:  Raspberry Pi 4 has a built-in encryption and requires more</a:t>
            </a:r>
          </a:p>
          <a:p>
            <a:pPr marL="0" indent="0" algn="just">
              <a:buNone/>
            </a:pPr>
            <a:r>
              <a:rPr lang="en-US" altLang="en-GB" sz="2000" dirty="0">
                <a:latin typeface="Times New Roman" panose="02020603050405020304" pitchFamily="18" charset="0"/>
                <a:cs typeface="Times New Roman" panose="02020603050405020304" pitchFamily="18" charset="0"/>
              </a:rPr>
              <a:t>     authentication securities.</a:t>
            </a:r>
          </a:p>
          <a:p>
            <a:pPr algn="just"/>
            <a:r>
              <a:rPr lang="en-US" altLang="en-GB" sz="2000" b="1" dirty="0">
                <a:latin typeface="Times New Roman" panose="02020603050405020304" pitchFamily="18" charset="0"/>
                <a:cs typeface="Times New Roman" panose="02020603050405020304" pitchFamily="18" charset="0"/>
              </a:rPr>
              <a:t>Advanced Speech Recognition</a:t>
            </a:r>
            <a:r>
              <a:rPr lang="en-US" altLang="en-GB" sz="2000" dirty="0">
                <a:latin typeface="Times New Roman" panose="02020603050405020304" pitchFamily="18" charset="0"/>
                <a:cs typeface="Times New Roman" panose="02020603050405020304" pitchFamily="18" charset="0"/>
              </a:rPr>
              <a:t>: Raspberry Pi 4 is better for speech recognition it has higher processing power and built-in  </a:t>
            </a:r>
            <a:r>
              <a:rPr lang="en-US" altLang="en-GB" sz="2000" dirty="0" err="1">
                <a:latin typeface="Times New Roman" panose="02020603050405020304" pitchFamily="18" charset="0"/>
                <a:cs typeface="Times New Roman" panose="02020603050405020304" pitchFamily="18" charset="0"/>
              </a:rPr>
              <a:t>wifi</a:t>
            </a:r>
            <a:r>
              <a:rPr lang="en-US" altLang="en-GB" sz="2000" dirty="0">
                <a:latin typeface="Times New Roman" panose="02020603050405020304" pitchFamily="18" charset="0"/>
                <a:cs typeface="Times New Roman" panose="02020603050405020304" pitchFamily="18" charset="0"/>
              </a:rPr>
              <a:t> and Bluetooth support.</a:t>
            </a:r>
          </a:p>
          <a:p>
            <a:pPr algn="just"/>
            <a:r>
              <a:rPr lang="en-US" altLang="en-GB" sz="2000" b="1" dirty="0">
                <a:latin typeface="Times New Roman" panose="02020603050405020304" pitchFamily="18" charset="0"/>
                <a:cs typeface="Times New Roman" panose="02020603050405020304" pitchFamily="18" charset="0"/>
              </a:rPr>
              <a:t>Efficient Power Management</a:t>
            </a:r>
            <a:r>
              <a:rPr lang="en-US" altLang="en-GB" sz="2000" dirty="0">
                <a:latin typeface="Times New Roman" panose="02020603050405020304" pitchFamily="18" charset="0"/>
                <a:cs typeface="Times New Roman" panose="02020603050405020304" pitchFamily="18" charset="0"/>
              </a:rPr>
              <a:t>:  Raspberry Pi 4 is powerful microcontroller  and it has low-power modes and ULP processors.</a:t>
            </a:r>
          </a:p>
          <a:p>
            <a:pPr algn="just"/>
            <a:r>
              <a:rPr lang="en-US" altLang="en-GB" sz="2000" b="1" dirty="0">
                <a:latin typeface="Times New Roman" panose="02020603050405020304" pitchFamily="18" charset="0"/>
                <a:cs typeface="Times New Roman" panose="02020603050405020304" pitchFamily="18" charset="0"/>
              </a:rPr>
              <a:t>Improved System Performance: </a:t>
            </a:r>
            <a:r>
              <a:rPr lang="en-US" altLang="en-GB" sz="2000" dirty="0">
                <a:latin typeface="Times New Roman" panose="02020603050405020304" pitchFamily="18" charset="0"/>
                <a:cs typeface="Times New Roman" panose="02020603050405020304" pitchFamily="18" charset="0"/>
              </a:rPr>
              <a:t>It has a dual-core processor and high connectivity with multitasking processing.</a:t>
            </a:r>
          </a:p>
          <a:p>
            <a:pPr algn="just"/>
            <a:endParaRPr lang="en-US" altLang="en-GB" sz="2000" dirty="0">
              <a:latin typeface="Times New Roman" panose="02020603050405020304" pitchFamily="18" charset="0"/>
              <a:cs typeface="Times New Roman" panose="02020603050405020304" pitchFamily="18" charset="0"/>
            </a:endParaRPr>
          </a:p>
          <a:p>
            <a:pPr algn="just"/>
            <a:endParaRPr lang="en-US" altLang="en-GB" sz="2000" dirty="0">
              <a:latin typeface="Times New Roman" panose="02020603050405020304" pitchFamily="18" charset="0"/>
              <a:cs typeface="Times New Roman" panose="02020603050405020304" pitchFamily="18" charset="0"/>
            </a:endParaRPr>
          </a:p>
          <a:p>
            <a:pPr algn="just"/>
            <a:endParaRPr lang="en-US" altLang="en-GB" sz="2000" dirty="0">
              <a:latin typeface="Times New Roman" panose="02020603050405020304" pitchFamily="18" charset="0"/>
              <a:cs typeface="Times New Roman" panose="02020603050405020304" pitchFamily="18" charset="0"/>
            </a:endParaRPr>
          </a:p>
          <a:p>
            <a:pPr algn="just"/>
            <a:endParaRPr lang="en-US" altLang="en-GB" sz="2000" dirty="0">
              <a:latin typeface="Times New Roman" panose="02020603050405020304" pitchFamily="18" charset="0"/>
              <a:cs typeface="Times New Roman" panose="02020603050405020304" pitchFamily="18" charset="0"/>
            </a:endParaRPr>
          </a:p>
          <a:p>
            <a:pPr algn="just"/>
            <a:endParaRPr lang="en-US" altLang="en-GB" sz="2000" dirty="0">
              <a:latin typeface="Times New Roman" panose="02020603050405020304" pitchFamily="18" charset="0"/>
              <a:cs typeface="Times New Roman" panose="02020603050405020304" pitchFamily="18" charset="0"/>
            </a:endParaRPr>
          </a:p>
          <a:p>
            <a:pPr marL="0" indent="0" algn="just">
              <a:buNone/>
            </a:pPr>
            <a:endParaRPr lang="en-US" altLang="en-GB"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3ACC5-1A91-9236-87EF-6327E29DDB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81562-DEE9-C45F-8D3A-FACE5D777D0C}"/>
              </a:ext>
            </a:extLst>
          </p:cNvPr>
          <p:cNvSpPr>
            <a:spLocks noGrp="1"/>
          </p:cNvSpPr>
          <p:nvPr>
            <p:ph type="title"/>
          </p:nvPr>
        </p:nvSpPr>
        <p:spPr>
          <a:xfrm>
            <a:off x="25400" y="61595"/>
            <a:ext cx="9157970" cy="852805"/>
          </a:xfrm>
        </p:spPr>
        <p:txBody>
          <a:bodyPr>
            <a:normAutofit fontScale="90000"/>
          </a:bodyPr>
          <a:lstStyle/>
          <a:p>
            <a:r>
              <a:rPr lang="en-US" sz="3600" b="1"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sym typeface="+mn-ea"/>
              </a:rPr>
            </a:br>
            <a:endParaRPr lang="en-US" dirty="0"/>
          </a:p>
        </p:txBody>
      </p:sp>
      <p:pic>
        <p:nvPicPr>
          <p:cNvPr id="7" name="Picture 6" descr="WhatsApp Image 2024-12-30 at 17.06.11_ba6ae401">
            <a:extLst>
              <a:ext uri="{FF2B5EF4-FFF2-40B4-BE49-F238E27FC236}">
                <a16:creationId xmlns:a16="http://schemas.microsoft.com/office/drawing/2014/main" id="{3B0F5F8C-C35F-53F1-60EF-96944413CDEF}"/>
              </a:ext>
            </a:extLst>
          </p:cNvPr>
          <p:cNvPicPr>
            <a:picLocks noChangeAspect="1"/>
          </p:cNvPicPr>
          <p:nvPr/>
        </p:nvPicPr>
        <p:blipFill>
          <a:blip r:embed="rId2"/>
          <a:stretch>
            <a:fillRect/>
          </a:stretch>
        </p:blipFill>
        <p:spPr>
          <a:xfrm>
            <a:off x="585470" y="879475"/>
            <a:ext cx="7845425" cy="5582285"/>
          </a:xfrm>
          <a:prstGeom prst="rect">
            <a:avLst/>
          </a:prstGeom>
        </p:spPr>
      </p:pic>
      <p:sp>
        <p:nvSpPr>
          <p:cNvPr id="8" name="Rectangles 7">
            <a:extLst>
              <a:ext uri="{FF2B5EF4-FFF2-40B4-BE49-F238E27FC236}">
                <a16:creationId xmlns:a16="http://schemas.microsoft.com/office/drawing/2014/main" id="{AD726B98-AD44-72D8-1FA4-0705FD198A69}"/>
              </a:ext>
            </a:extLst>
          </p:cNvPr>
          <p:cNvSpPr/>
          <p:nvPr/>
        </p:nvSpPr>
        <p:spPr>
          <a:xfrm>
            <a:off x="1066800" y="3124200"/>
            <a:ext cx="1266190" cy="5207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GB" altLang="en-US"/>
          </a:p>
        </p:txBody>
      </p:sp>
      <p:cxnSp>
        <p:nvCxnSpPr>
          <p:cNvPr id="9" name="Straight Arrow Connector 8">
            <a:extLst>
              <a:ext uri="{FF2B5EF4-FFF2-40B4-BE49-F238E27FC236}">
                <a16:creationId xmlns:a16="http://schemas.microsoft.com/office/drawing/2014/main" id="{529514C8-4B41-03A2-E55F-9BAA7DCB6B5F}"/>
              </a:ext>
            </a:extLst>
          </p:cNvPr>
          <p:cNvCxnSpPr/>
          <p:nvPr/>
        </p:nvCxnSpPr>
        <p:spPr>
          <a:xfrm>
            <a:off x="2286000" y="3200400"/>
            <a:ext cx="53340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 name="Text Box 9">
            <a:extLst>
              <a:ext uri="{FF2B5EF4-FFF2-40B4-BE49-F238E27FC236}">
                <a16:creationId xmlns:a16="http://schemas.microsoft.com/office/drawing/2014/main" id="{6F26972A-B190-2584-F142-9E2C0ED3767D}"/>
              </a:ext>
            </a:extLst>
          </p:cNvPr>
          <p:cNvSpPr txBox="1"/>
          <p:nvPr/>
        </p:nvSpPr>
        <p:spPr>
          <a:xfrm>
            <a:off x="1066800" y="3276600"/>
            <a:ext cx="3048000" cy="368300"/>
          </a:xfrm>
          <a:prstGeom prst="rect">
            <a:avLst/>
          </a:prstGeom>
          <a:noFill/>
        </p:spPr>
        <p:txBody>
          <a:bodyPr wrap="square" rtlCol="0">
            <a:spAutoFit/>
          </a:bodyPr>
          <a:lstStyle/>
          <a:p>
            <a:r>
              <a:rPr lang="en-GB" altLang="en-US">
                <a:solidFill>
                  <a:schemeClr val="bg1"/>
                </a:solidFill>
                <a:latin typeface="Times New Roman" panose="02020603050405020304" pitchFamily="18" charset="0"/>
                <a:cs typeface="Times New Roman" panose="02020603050405020304" pitchFamily="18" charset="0"/>
              </a:rPr>
              <a:t>Wifi module</a:t>
            </a:r>
          </a:p>
        </p:txBody>
      </p:sp>
      <p:sp>
        <p:nvSpPr>
          <p:cNvPr id="3" name="Rectangle 2">
            <a:extLst>
              <a:ext uri="{FF2B5EF4-FFF2-40B4-BE49-F238E27FC236}">
                <a16:creationId xmlns:a16="http://schemas.microsoft.com/office/drawing/2014/main" id="{5F3AD4E6-FE52-5996-FE1A-9B388BDEAEB3}"/>
              </a:ext>
            </a:extLst>
          </p:cNvPr>
          <p:cNvSpPr/>
          <p:nvPr/>
        </p:nvSpPr>
        <p:spPr>
          <a:xfrm>
            <a:off x="1125682" y="3962400"/>
            <a:ext cx="1189990" cy="5003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Voice input</a:t>
            </a:r>
          </a:p>
        </p:txBody>
      </p:sp>
      <p:sp>
        <p:nvSpPr>
          <p:cNvPr id="4" name="Rectangle 3">
            <a:extLst>
              <a:ext uri="{FF2B5EF4-FFF2-40B4-BE49-F238E27FC236}">
                <a16:creationId xmlns:a16="http://schemas.microsoft.com/office/drawing/2014/main" id="{8F81473D-4250-8BFA-2508-7C40C48C3B85}"/>
              </a:ext>
            </a:extLst>
          </p:cNvPr>
          <p:cNvSpPr/>
          <p:nvPr/>
        </p:nvSpPr>
        <p:spPr>
          <a:xfrm>
            <a:off x="1143000" y="4861560"/>
            <a:ext cx="1189990" cy="701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00" dirty="0">
              <a:latin typeface="Times New Roman" panose="02020603050405020304" pitchFamily="18" charset="0"/>
              <a:cs typeface="Times New Roman" panose="02020603050405020304" pitchFamily="18" charset="0"/>
            </a:endParaRPr>
          </a:p>
          <a:p>
            <a:pPr algn="ctr"/>
            <a:r>
              <a:rPr lang="en-IN" sz="1600" dirty="0">
                <a:latin typeface="Times New Roman" panose="02020603050405020304" pitchFamily="18" charset="0"/>
                <a:cs typeface="Times New Roman" panose="02020603050405020304" pitchFamily="18" charset="0"/>
              </a:rPr>
              <a:t>Speech</a:t>
            </a:r>
          </a:p>
          <a:p>
            <a:pPr algn="ctr"/>
            <a:r>
              <a:rPr lang="en-IN" sz="1600" dirty="0">
                <a:latin typeface="Times New Roman" panose="02020603050405020304" pitchFamily="18" charset="0"/>
                <a:cs typeface="Times New Roman" panose="02020603050405020304" pitchFamily="18" charset="0"/>
              </a:rPr>
              <a:t>Recognition</a:t>
            </a:r>
          </a:p>
          <a:p>
            <a:pPr algn="ctr"/>
            <a:r>
              <a:rPr lang="en-IN" sz="1600" dirty="0">
                <a:latin typeface="Times New Roman" panose="02020603050405020304" pitchFamily="18" charset="0"/>
                <a:cs typeface="Times New Roman" panose="02020603050405020304" pitchFamily="18" charset="0"/>
              </a:rPr>
              <a:t>process</a:t>
            </a:r>
          </a:p>
          <a:p>
            <a:pPr algn="ctr"/>
            <a:endParaRPr lang="en-IN" dirty="0"/>
          </a:p>
        </p:txBody>
      </p:sp>
      <p:cxnSp>
        <p:nvCxnSpPr>
          <p:cNvPr id="6" name="Straight Arrow Connector 5">
            <a:extLst>
              <a:ext uri="{FF2B5EF4-FFF2-40B4-BE49-F238E27FC236}">
                <a16:creationId xmlns:a16="http://schemas.microsoft.com/office/drawing/2014/main" id="{548E91A5-64D3-20BD-0506-882FCA2B2ECC}"/>
              </a:ext>
            </a:extLst>
          </p:cNvPr>
          <p:cNvCxnSpPr>
            <a:cxnSpLocks/>
            <a:stCxn id="4" idx="0"/>
            <a:endCxn id="3" idx="2"/>
          </p:cNvCxnSpPr>
          <p:nvPr/>
        </p:nvCxnSpPr>
        <p:spPr>
          <a:xfrm flipH="1" flipV="1">
            <a:off x="1720677" y="4462780"/>
            <a:ext cx="17318" cy="39878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 name="TextBox 10">
            <a:extLst>
              <a:ext uri="{FF2B5EF4-FFF2-40B4-BE49-F238E27FC236}">
                <a16:creationId xmlns:a16="http://schemas.microsoft.com/office/drawing/2014/main" id="{D42DB999-C502-0CDD-16FA-B3FF385FF3C5}"/>
              </a:ext>
            </a:extLst>
          </p:cNvPr>
          <p:cNvSpPr txBox="1"/>
          <p:nvPr/>
        </p:nvSpPr>
        <p:spPr>
          <a:xfrm>
            <a:off x="761999" y="296030"/>
            <a:ext cx="7845425"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8.PROPOSED BLOCK DIAGRAM</a:t>
            </a:r>
            <a:endParaRPr lang="en-IN" sz="3600" b="1" dirty="0">
              <a:latin typeface="Times New Roman" panose="02020603050405020304" pitchFamily="18" charset="0"/>
              <a:cs typeface="Times New Roman" panose="02020603050405020304" pitchFamily="18" charset="0"/>
            </a:endParaRPr>
          </a:p>
        </p:txBody>
      </p:sp>
      <p:pic>
        <p:nvPicPr>
          <p:cNvPr id="14" name="Content Placeholder 4">
            <a:extLst>
              <a:ext uri="{FF2B5EF4-FFF2-40B4-BE49-F238E27FC236}">
                <a16:creationId xmlns:a16="http://schemas.microsoft.com/office/drawing/2014/main" id="{A75708BC-A04A-F57E-F883-D333AAA258B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905325" y="2547621"/>
            <a:ext cx="1425893" cy="1817386"/>
          </a:xfrm>
        </p:spPr>
      </p:pic>
      <p:sp>
        <p:nvSpPr>
          <p:cNvPr id="15" name="TextBox 14">
            <a:extLst>
              <a:ext uri="{FF2B5EF4-FFF2-40B4-BE49-F238E27FC236}">
                <a16:creationId xmlns:a16="http://schemas.microsoft.com/office/drawing/2014/main" id="{C7896B3D-74EF-4AF5-C7A0-8D4556334A23}"/>
              </a:ext>
            </a:extLst>
          </p:cNvPr>
          <p:cNvSpPr txBox="1"/>
          <p:nvPr/>
        </p:nvSpPr>
        <p:spPr>
          <a:xfrm>
            <a:off x="2855884" y="4391698"/>
            <a:ext cx="1524776"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(Raspberry pi)</a:t>
            </a:r>
          </a:p>
        </p:txBody>
      </p:sp>
    </p:spTree>
    <p:extLst>
      <p:ext uri="{BB962C8B-B14F-4D97-AF65-F5344CB8AC3E}">
        <p14:creationId xmlns:p14="http://schemas.microsoft.com/office/powerpoint/2010/main" val="779416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3980"/>
            <a:ext cx="8229600" cy="631825"/>
          </a:xfrm>
        </p:spPr>
        <p:txBody>
          <a:bodyPr>
            <a:normAutofit fontScale="90000"/>
          </a:bodyPr>
          <a:lstStyle/>
          <a:p>
            <a:r>
              <a:rPr lang="en-US" sz="4000" b="1" dirty="0">
                <a:latin typeface="Times New Roman" panose="02020603050405020304" pitchFamily="18" charset="0"/>
                <a:cs typeface="Times New Roman" panose="02020603050405020304" pitchFamily="18" charset="0"/>
                <a:sym typeface="+mn-ea"/>
              </a:rPr>
              <a:t>9.PROPOSED METHOD</a:t>
            </a:r>
          </a:p>
        </p:txBody>
      </p:sp>
      <p:sp>
        <p:nvSpPr>
          <p:cNvPr id="3" name="Content Placeholder 2"/>
          <p:cNvSpPr>
            <a:spLocks noGrp="1"/>
          </p:cNvSpPr>
          <p:nvPr>
            <p:ph idx="1"/>
          </p:nvPr>
        </p:nvSpPr>
        <p:spPr>
          <a:xfrm>
            <a:off x="152400" y="838200"/>
            <a:ext cx="8534400" cy="5562600"/>
          </a:xfrm>
        </p:spPr>
        <p:txBody>
          <a:bodyPr>
            <a:noAutofit/>
          </a:bodyPr>
          <a:lstStyle/>
          <a:p>
            <a:pPr marL="0" lvl="0" indent="0" algn="just" fontAlgn="base">
              <a:lnSpc>
                <a:spcPct val="150000"/>
              </a:lnSpc>
              <a:spcBef>
                <a:spcPct val="0"/>
              </a:spcBef>
              <a:spcAft>
                <a:spcPct val="0"/>
              </a:spcAft>
              <a:buNone/>
            </a:pPr>
            <a:r>
              <a:rPr lang="en-US" b="1" dirty="0">
                <a:latin typeface="Times New Roman" panose="02020603050405020304" pitchFamily="18" charset="0"/>
                <a:cs typeface="Times New Roman" panose="02020603050405020304" pitchFamily="18" charset="0"/>
                <a:sym typeface="+mn-ea"/>
              </a:rPr>
              <a:t>.</a:t>
            </a:r>
            <a:r>
              <a:rPr lang="en-US" sz="1800" dirty="0">
                <a:latin typeface="Times New Roman" panose="02020603050405020304" pitchFamily="18" charset="0"/>
                <a:cs typeface="Times New Roman" panose="02020603050405020304" pitchFamily="18" charset="0"/>
                <a:sym typeface="+mn-ea"/>
              </a:rPr>
              <a:t>The proposed system is a secure and smart home automation solution based on the</a:t>
            </a:r>
          </a:p>
          <a:p>
            <a:pPr marL="0" lvl="0" indent="0" algn="just" fontAlgn="base">
              <a:lnSpc>
                <a:spcPct val="150000"/>
              </a:lnSpc>
              <a:spcBef>
                <a:spcPct val="0"/>
              </a:spcBef>
              <a:spcAft>
                <a:spcPct val="0"/>
              </a:spcAft>
              <a:buNone/>
            </a:pPr>
            <a:r>
              <a:rPr lang="en-US" sz="1800" b="1" dirty="0">
                <a:latin typeface="Times New Roman" panose="02020603050405020304" pitchFamily="18" charset="0"/>
                <a:cs typeface="Times New Roman" panose="02020603050405020304" pitchFamily="18" charset="0"/>
                <a:sym typeface="+mn-ea"/>
              </a:rPr>
              <a:t> Raspberry Pi 4 </a:t>
            </a:r>
            <a:r>
              <a:rPr lang="en-US" sz="1800" dirty="0">
                <a:latin typeface="Times New Roman" panose="02020603050405020304" pitchFamily="18" charset="0"/>
                <a:cs typeface="Times New Roman" panose="02020603050405020304" pitchFamily="18" charset="0"/>
                <a:sym typeface="+mn-ea"/>
              </a:rPr>
              <a:t> which integrates speech recognition, power measurement, and security features. The system is designed to offer an easy, affordable, and efficient way to automate home devices, monitor energy consumption, and enhance home security, while also enabling remote control via a mobile application.</a:t>
            </a:r>
            <a:endParaRPr lang="en-US" sz="1800" dirty="0">
              <a:latin typeface="Times New Roman" panose="02020603050405020304" pitchFamily="18" charset="0"/>
              <a:cs typeface="Times New Roman" panose="02020603050405020304" pitchFamily="18" charset="0"/>
            </a:endParaRPr>
          </a:p>
          <a:p>
            <a:pPr marL="0" lvl="0" indent="0" algn="just" fontAlgn="base">
              <a:lnSpc>
                <a:spcPct val="150000"/>
              </a:lnSpc>
              <a:spcBef>
                <a:spcPct val="0"/>
              </a:spcBef>
              <a:spcAft>
                <a:spcPct val="0"/>
              </a:spcAft>
              <a:buFontTx/>
              <a:buNone/>
            </a:pPr>
            <a:r>
              <a:rPr lang="en-US" sz="2800" b="1" dirty="0">
                <a:latin typeface="Times New Roman" panose="02020603050405020304" pitchFamily="18" charset="0"/>
                <a:cs typeface="Times New Roman" panose="02020603050405020304" pitchFamily="18" charset="0"/>
                <a:sym typeface="+mn-ea"/>
              </a:rPr>
              <a:t>.</a:t>
            </a:r>
            <a:r>
              <a:rPr lang="en-US" sz="1800" b="1" dirty="0">
                <a:ln>
                  <a:noFill/>
                </a:ln>
                <a:effectLst/>
                <a:latin typeface="Times New Roman" panose="02020603050405020304" pitchFamily="18" charset="0"/>
                <a:cs typeface="Times New Roman" panose="02020603050405020304" pitchFamily="18" charset="0"/>
                <a:sym typeface="+mn-ea"/>
              </a:rPr>
              <a:t>Voice Command Control</a:t>
            </a:r>
            <a:r>
              <a:rPr lang="en-US" sz="1800" dirty="0">
                <a:ln>
                  <a:noFill/>
                </a:ln>
                <a:effectLst/>
                <a:latin typeface="Times New Roman" panose="02020603050405020304" pitchFamily="18" charset="0"/>
                <a:cs typeface="Times New Roman" panose="02020603050405020304" pitchFamily="18" charset="0"/>
                <a:sym typeface="+mn-ea"/>
              </a:rPr>
              <a:t>: The speech recognition module listens for specific commands and sends corresponding instructions to the </a:t>
            </a:r>
            <a:r>
              <a:rPr lang="en-US" sz="1800" dirty="0">
                <a:latin typeface="Times New Roman" panose="02020603050405020304" pitchFamily="18" charset="0"/>
                <a:cs typeface="Times New Roman" panose="02020603050405020304" pitchFamily="18" charset="0"/>
                <a:sym typeface="+mn-ea"/>
              </a:rPr>
              <a:t> Raspberry Pi 4</a:t>
            </a:r>
            <a:r>
              <a:rPr lang="en-US" sz="1800" dirty="0">
                <a:ln>
                  <a:noFill/>
                </a:ln>
                <a:effectLst/>
                <a:latin typeface="Times New Roman" panose="02020603050405020304" pitchFamily="18" charset="0"/>
                <a:cs typeface="Times New Roman" panose="02020603050405020304" pitchFamily="18" charset="0"/>
                <a:sym typeface="+mn-ea"/>
              </a:rPr>
              <a:t>. The </a:t>
            </a:r>
            <a:r>
              <a:rPr lang="en-US" sz="1800" dirty="0">
                <a:latin typeface="Times New Roman" panose="02020603050405020304" pitchFamily="18" charset="0"/>
                <a:cs typeface="Times New Roman" panose="02020603050405020304" pitchFamily="18" charset="0"/>
                <a:sym typeface="+mn-ea"/>
              </a:rPr>
              <a:t> Raspberry Pi 4</a:t>
            </a:r>
            <a:r>
              <a:rPr lang="en-US" sz="1800" dirty="0">
                <a:ln>
                  <a:noFill/>
                </a:ln>
                <a:effectLst/>
                <a:latin typeface="Times New Roman" panose="02020603050405020304" pitchFamily="18" charset="0"/>
                <a:cs typeface="Times New Roman" panose="02020603050405020304" pitchFamily="18" charset="0"/>
                <a:sym typeface="+mn-ea"/>
              </a:rPr>
              <a:t> processes these instructions and controls the connected relays to operate appliances accordingly.</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lang="en-US" sz="1800" b="1" dirty="0">
                <a:ln>
                  <a:noFill/>
                </a:ln>
                <a:effectLst/>
                <a:latin typeface="Times New Roman" panose="02020603050405020304" pitchFamily="18" charset="0"/>
                <a:cs typeface="Times New Roman" panose="02020603050405020304" pitchFamily="18" charset="0"/>
                <a:sym typeface="+mn-ea"/>
              </a:rPr>
              <a:t>Power Monitoring</a:t>
            </a:r>
            <a:r>
              <a:rPr lang="en-US" sz="1800" dirty="0">
                <a:ln>
                  <a:noFill/>
                </a:ln>
                <a:effectLst/>
                <a:latin typeface="Times New Roman" panose="02020603050405020304" pitchFamily="18" charset="0"/>
                <a:cs typeface="Times New Roman" panose="02020603050405020304" pitchFamily="18" charset="0"/>
                <a:sym typeface="+mn-ea"/>
              </a:rPr>
              <a:t>: The voltage and current sensors continuously collect data from the appliances, and the </a:t>
            </a:r>
            <a:r>
              <a:rPr lang="en-US" sz="1800" dirty="0">
                <a:latin typeface="Times New Roman" panose="02020603050405020304" pitchFamily="18" charset="0"/>
                <a:cs typeface="Times New Roman" panose="02020603050405020304" pitchFamily="18" charset="0"/>
                <a:sym typeface="+mn-ea"/>
              </a:rPr>
              <a:t> Raspberry Pi 4</a:t>
            </a:r>
            <a:r>
              <a:rPr lang="en-US" sz="1800" dirty="0">
                <a:ln>
                  <a:noFill/>
                </a:ln>
                <a:effectLst/>
                <a:latin typeface="Times New Roman" panose="02020603050405020304" pitchFamily="18" charset="0"/>
                <a:cs typeface="Times New Roman" panose="02020603050405020304" pitchFamily="18" charset="0"/>
                <a:sym typeface="+mn-ea"/>
              </a:rPr>
              <a:t> calculates the power consumption. This data can be sent to a mobile app for real-time monitoring.</a:t>
            </a: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995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914B3-FB8E-4FA5-B59F-748A66013948}"/>
              </a:ext>
            </a:extLst>
          </p:cNvPr>
          <p:cNvSpPr>
            <a:spLocks noGrp="1"/>
          </p:cNvSpPr>
          <p:nvPr>
            <p:ph type="title"/>
          </p:nvPr>
        </p:nvSpPr>
        <p:spPr>
          <a:xfrm>
            <a:off x="628650" y="0"/>
            <a:ext cx="7886700" cy="685800"/>
          </a:xfrm>
        </p:spPr>
        <p:txBody>
          <a:bodyPr>
            <a:noAutofit/>
          </a:bodyPr>
          <a:lstStyle/>
          <a:p>
            <a:pPr marL="342900" indent="-342900"/>
            <a:r>
              <a:rPr lang="en-US" sz="3600" b="1" dirty="0">
                <a:latin typeface="Times New Roman" panose="02020603050405020304" pitchFamily="18" charset="0"/>
                <a:cs typeface="Times New Roman" panose="02020603050405020304" pitchFamily="18" charset="0"/>
              </a:rPr>
              <a:t>10.PROJECT REQUIREMENTS</a:t>
            </a:r>
          </a:p>
        </p:txBody>
      </p:sp>
      <p:sp>
        <p:nvSpPr>
          <p:cNvPr id="3" name="Content Placeholder 2">
            <a:extLst>
              <a:ext uri="{FF2B5EF4-FFF2-40B4-BE49-F238E27FC236}">
                <a16:creationId xmlns:a16="http://schemas.microsoft.com/office/drawing/2014/main" id="{C187DD98-C1F6-4FBA-946F-A6ABA2F2D4FD}"/>
              </a:ext>
            </a:extLst>
          </p:cNvPr>
          <p:cNvSpPr>
            <a:spLocks noGrp="1"/>
          </p:cNvSpPr>
          <p:nvPr>
            <p:ph idx="1"/>
          </p:nvPr>
        </p:nvSpPr>
        <p:spPr>
          <a:xfrm>
            <a:off x="152400" y="762000"/>
            <a:ext cx="8915400" cy="6019799"/>
          </a:xfrm>
        </p:spPr>
        <p:txBody>
          <a:bodyPr>
            <a:noAutofit/>
          </a:bodyPr>
          <a:lstStyle/>
          <a:p>
            <a:pPr marL="0" indent="0" algn="just">
              <a:buNone/>
            </a:pPr>
            <a:r>
              <a:rPr lang="en-US" sz="4000" dirty="0"/>
              <a:t>Hardware Requirements</a:t>
            </a:r>
            <a:r>
              <a:rPr lang="en-IN" sz="2800" dirty="0">
                <a:latin typeface="Times New Roman" panose="02020603050405020304" pitchFamily="18" charset="0"/>
                <a:cs typeface="Times New Roman" panose="02020603050405020304" pitchFamily="18" charset="0"/>
              </a:rPr>
              <a:t>:</a:t>
            </a:r>
          </a:p>
          <a:p>
            <a:pPr marL="0" indent="0" algn="just">
              <a:buNone/>
            </a:pPr>
            <a:r>
              <a:rPr lang="en-IN" sz="2800" dirty="0">
                <a:latin typeface="Times New Roman" panose="02020603050405020304" pitchFamily="18" charset="0"/>
                <a:cs typeface="Times New Roman" panose="02020603050405020304" pitchFamily="18" charset="0"/>
              </a:rPr>
              <a:t>1.Sensors</a:t>
            </a:r>
          </a:p>
          <a:p>
            <a:pPr marL="0" indent="0" algn="just">
              <a:buNone/>
            </a:pPr>
            <a:r>
              <a:rPr lang="en-IN" sz="2800" dirty="0">
                <a:latin typeface="Times New Roman" panose="02020603050405020304" pitchFamily="18" charset="0"/>
                <a:cs typeface="Times New Roman" panose="02020603050405020304" pitchFamily="18" charset="0"/>
              </a:rPr>
              <a:t>2.Relays</a:t>
            </a:r>
          </a:p>
          <a:p>
            <a:pPr marL="0" indent="0" algn="just">
              <a:buNone/>
            </a:pPr>
            <a:r>
              <a:rPr lang="en-IN" sz="2800" dirty="0">
                <a:latin typeface="Times New Roman" panose="02020603050405020304" pitchFamily="18" charset="0"/>
                <a:cs typeface="Times New Roman" panose="02020603050405020304" pitchFamily="18" charset="0"/>
              </a:rPr>
              <a:t>3.Raspberry pi 4</a:t>
            </a:r>
          </a:p>
          <a:p>
            <a:pPr marL="0" indent="0" algn="just">
              <a:buNone/>
            </a:pPr>
            <a:r>
              <a:rPr lang="en-IN" sz="2800" dirty="0">
                <a:latin typeface="Times New Roman" panose="02020603050405020304" pitchFamily="18" charset="0"/>
                <a:cs typeface="Times New Roman" panose="02020603050405020304" pitchFamily="18" charset="0"/>
              </a:rPr>
              <a:t>4.Connecting wires</a:t>
            </a:r>
          </a:p>
          <a:p>
            <a:pPr marL="0" indent="0" algn="just">
              <a:buNone/>
            </a:pPr>
            <a:r>
              <a:rPr lang="en-IN" sz="2800" dirty="0">
                <a:latin typeface="Times New Roman" panose="02020603050405020304" pitchFamily="18" charset="0"/>
                <a:cs typeface="Times New Roman" panose="02020603050405020304" pitchFamily="18" charset="0"/>
              </a:rPr>
              <a:t>5.Bulbs</a:t>
            </a: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9650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22B87-EE2B-E0F9-0A72-661FB58C1340}"/>
              </a:ext>
            </a:extLst>
          </p:cNvPr>
          <p:cNvSpPr>
            <a:spLocks noGrp="1"/>
          </p:cNvSpPr>
          <p:nvPr>
            <p:ph type="title"/>
          </p:nvPr>
        </p:nvSpPr>
        <p:spPr>
          <a:xfrm>
            <a:off x="-3200400" y="914400"/>
            <a:ext cx="11887200" cy="503238"/>
          </a:xfrm>
        </p:spPr>
        <p:txBody>
          <a:bodyPr>
            <a:normAutofit fontScale="90000"/>
          </a:bodyPr>
          <a:lstStyle/>
          <a:p>
            <a:r>
              <a:rPr lang="en-US" sz="4400" dirty="0"/>
              <a:t>Software Requirements</a:t>
            </a:r>
            <a:r>
              <a:rPr lang="en-US" sz="3200" dirty="0">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1AD6CA6-6FA3-A862-0DA9-254DD185D843}"/>
              </a:ext>
            </a:extLst>
          </p:cNvPr>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Python IDE</a:t>
            </a:r>
          </a:p>
          <a:p>
            <a:r>
              <a:rPr lang="en-US" sz="2800" dirty="0" err="1">
                <a:latin typeface="Times New Roman" panose="02020603050405020304" pitchFamily="18" charset="0"/>
                <a:cs typeface="Times New Roman" panose="02020603050405020304" pitchFamily="18" charset="0"/>
              </a:rPr>
              <a:t>ThingSpeak</a:t>
            </a:r>
            <a:r>
              <a:rPr lang="en-US" sz="2800" dirty="0">
                <a:latin typeface="Times New Roman" panose="02020603050405020304" pitchFamily="18" charset="0"/>
                <a:cs typeface="Times New Roman" panose="02020603050405020304" pitchFamily="18" charset="0"/>
              </a:rPr>
              <a:t> IoT Cloud</a:t>
            </a:r>
          </a:p>
          <a:p>
            <a:r>
              <a:rPr lang="en-US" sz="2800" dirty="0" err="1">
                <a:latin typeface="Times New Roman" panose="02020603050405020304" pitchFamily="18" charset="0"/>
                <a:cs typeface="Times New Roman" panose="02020603050405020304" pitchFamily="18" charset="0"/>
              </a:rPr>
              <a:t>Thingview</a:t>
            </a:r>
            <a:r>
              <a:rPr lang="en-US" sz="2800" dirty="0">
                <a:latin typeface="Times New Roman" panose="02020603050405020304" pitchFamily="18" charset="0"/>
                <a:cs typeface="Times New Roman" panose="02020603050405020304" pitchFamily="18" charset="0"/>
              </a:rPr>
              <a:t> Mobile App</a:t>
            </a:r>
          </a:p>
          <a:p>
            <a:r>
              <a:rPr lang="en-US" sz="2800" dirty="0">
                <a:latin typeface="Times New Roman" panose="02020603050405020304" pitchFamily="18" charset="0"/>
                <a:cs typeface="Times New Roman" panose="02020603050405020304" pitchFamily="18" charset="0"/>
              </a:rPr>
              <a:t>RVNC Viewer</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1070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762000"/>
            <a:ext cx="7886700" cy="2362199"/>
          </a:xfrm>
        </p:spPr>
        <p:txBody>
          <a:bodyPr>
            <a:normAutofit/>
          </a:bodyPr>
          <a:lstStyle/>
          <a:p>
            <a:pPr algn="ctr"/>
            <a:br>
              <a:rPr lang="en-US" sz="24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11.RESULTS AND ITS ANALYSIS</a:t>
            </a:r>
            <a:br>
              <a:rPr lang="en-US" sz="2400" b="1" dirty="0">
                <a:latin typeface="Times New Roman" panose="02020603050405020304" pitchFamily="18" charset="0"/>
                <a:cs typeface="Times New Roman" panose="02020603050405020304" pitchFamily="18" charset="0"/>
              </a:rPr>
            </a:br>
            <a:endParaRPr lang="en-US" sz="2400" b="1" dirty="0"/>
          </a:p>
        </p:txBody>
      </p:sp>
      <p:pic>
        <p:nvPicPr>
          <p:cNvPr id="7" name="Content Placeholder 6">
            <a:extLst>
              <a:ext uri="{FF2B5EF4-FFF2-40B4-BE49-F238E27FC236}">
                <a16:creationId xmlns:a16="http://schemas.microsoft.com/office/drawing/2014/main" id="{6F288B59-853E-BB54-F1C8-9EBC40DB67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883920"/>
            <a:ext cx="6246440" cy="2545080"/>
          </a:xfrm>
        </p:spPr>
      </p:pic>
      <p:pic>
        <p:nvPicPr>
          <p:cNvPr id="9" name="Picture 8">
            <a:extLst>
              <a:ext uri="{FF2B5EF4-FFF2-40B4-BE49-F238E27FC236}">
                <a16:creationId xmlns:a16="http://schemas.microsoft.com/office/drawing/2014/main" id="{E0B86637-4F70-D7F6-46F1-7EC4CBB11E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038600"/>
            <a:ext cx="6453187" cy="2829560"/>
          </a:xfrm>
          <a:prstGeom prst="rect">
            <a:avLst/>
          </a:prstGeom>
        </p:spPr>
      </p:pic>
    </p:spTree>
    <p:extLst>
      <p:ext uri="{BB962C8B-B14F-4D97-AF65-F5344CB8AC3E}">
        <p14:creationId xmlns:p14="http://schemas.microsoft.com/office/powerpoint/2010/main" val="2933013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12838"/>
          </a:xfrm>
        </p:spPr>
        <p:txBody>
          <a:bodyPr>
            <a:normAutofit/>
          </a:bodyPr>
          <a:lstStyle/>
          <a:p>
            <a:r>
              <a:rPr lang="en-US" sz="3200" b="1" dirty="0">
                <a:latin typeface="Times New Roman" panose="02020603050405020304" pitchFamily="18" charset="0"/>
                <a:cs typeface="Times New Roman" panose="02020603050405020304" pitchFamily="18" charset="0"/>
              </a:rPr>
              <a:t>10.ADVANTAGES </a:t>
            </a:r>
            <a:br>
              <a:rPr lang="en-US" sz="3200" b="1" dirty="0">
                <a:latin typeface="Times New Roman" panose="02020603050405020304" pitchFamily="18" charset="0"/>
                <a:cs typeface="Times New Roman" panose="02020603050405020304" pitchFamily="18" charset="0"/>
              </a:rPr>
            </a:br>
            <a:endParaRPr lang="en-US" sz="3200" b="1" dirty="0"/>
          </a:p>
        </p:txBody>
      </p:sp>
      <p:sp>
        <p:nvSpPr>
          <p:cNvPr id="3" name="Content Placeholder 2"/>
          <p:cNvSpPr>
            <a:spLocks noGrp="1"/>
          </p:cNvSpPr>
          <p:nvPr>
            <p:ph idx="1"/>
          </p:nvPr>
        </p:nvSpPr>
        <p:spPr>
          <a:xfrm>
            <a:off x="152400" y="774065"/>
            <a:ext cx="8463280" cy="6042660"/>
          </a:xfrm>
        </p:spPr>
        <p:txBody>
          <a:bodyPr>
            <a:normAutofit fontScale="25000" lnSpcReduction="20000"/>
          </a:bodyPr>
          <a:lstStyle/>
          <a:p>
            <a:pPr marL="0" marR="0" lvl="0" indent="0" algn="just" defTabSz="914400" rtl="0" eaLnBrk="1" fontAlgn="base" latinLnBrk="0" hangingPunct="1">
              <a:lnSpc>
                <a:spcPct val="150000"/>
              </a:lnSpc>
              <a:spcBef>
                <a:spcPct val="0"/>
              </a:spcBef>
              <a:spcAft>
                <a:spcPct val="0"/>
              </a:spcAft>
              <a:buClrTx/>
              <a:buSzTx/>
              <a:buFontTx/>
              <a:buChar char="•"/>
            </a:pPr>
            <a:r>
              <a:rPr lang="en-US" sz="8000" b="1" dirty="0">
                <a:ln>
                  <a:noFill/>
                </a:ln>
                <a:effectLst/>
                <a:latin typeface="Times New Roman" panose="02020603050405020304" pitchFamily="18" charset="0"/>
                <a:cs typeface="Times New Roman" panose="02020603050405020304" pitchFamily="18" charset="0"/>
                <a:sym typeface="+mn-ea"/>
              </a:rPr>
              <a:t>Convenience</a:t>
            </a:r>
            <a:r>
              <a:rPr lang="en-US" sz="8000" dirty="0">
                <a:ln>
                  <a:noFill/>
                </a:ln>
                <a:effectLst/>
                <a:latin typeface="Times New Roman" panose="02020603050405020304" pitchFamily="18" charset="0"/>
                <a:cs typeface="Times New Roman" panose="02020603050405020304" pitchFamily="18" charset="0"/>
                <a:sym typeface="+mn-ea"/>
              </a:rPr>
              <a:t>: Hands-free control of home appliances through speech recognition.</a:t>
            </a:r>
            <a:endParaRPr kumimoji="0" lang="en-US" sz="8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lang="en-US" sz="8000" b="1" dirty="0">
                <a:ln>
                  <a:noFill/>
                </a:ln>
                <a:effectLst/>
                <a:latin typeface="Times New Roman" panose="02020603050405020304" pitchFamily="18" charset="0"/>
                <a:cs typeface="Times New Roman" panose="02020603050405020304" pitchFamily="18" charset="0"/>
                <a:sym typeface="+mn-ea"/>
              </a:rPr>
              <a:t>Energy efficiency</a:t>
            </a:r>
            <a:r>
              <a:rPr lang="en-US" sz="8000" dirty="0">
                <a:ln>
                  <a:noFill/>
                </a:ln>
                <a:effectLst/>
                <a:latin typeface="Times New Roman" panose="02020603050405020304" pitchFamily="18" charset="0"/>
                <a:cs typeface="Times New Roman" panose="02020603050405020304" pitchFamily="18" charset="0"/>
                <a:sym typeface="+mn-ea"/>
              </a:rPr>
              <a:t>: Monitors power consumption, helping users reduce energy costs.</a:t>
            </a:r>
            <a:endParaRPr kumimoji="0" lang="en-US" sz="8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lang="en-US" sz="8000" b="1" dirty="0">
                <a:ln>
                  <a:noFill/>
                </a:ln>
                <a:effectLst/>
                <a:latin typeface="Times New Roman" panose="02020603050405020304" pitchFamily="18" charset="0"/>
                <a:cs typeface="Times New Roman" panose="02020603050405020304" pitchFamily="18" charset="0"/>
                <a:sym typeface="+mn-ea"/>
              </a:rPr>
              <a:t>Enhanced security</a:t>
            </a:r>
            <a:r>
              <a:rPr lang="en-US" sz="8000" dirty="0">
                <a:ln>
                  <a:noFill/>
                </a:ln>
                <a:effectLst/>
                <a:latin typeface="Times New Roman" panose="02020603050405020304" pitchFamily="18" charset="0"/>
                <a:cs typeface="Times New Roman" panose="02020603050405020304" pitchFamily="18" charset="0"/>
                <a:sym typeface="+mn-ea"/>
              </a:rPr>
              <a:t>: Provides added safety through motion detection and door alarms.</a:t>
            </a:r>
            <a:endParaRPr kumimoji="0" lang="en-US" sz="8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lang="en-US" sz="8000" b="1" dirty="0">
                <a:ln>
                  <a:noFill/>
                </a:ln>
                <a:effectLst/>
                <a:latin typeface="Times New Roman" panose="02020603050405020304" pitchFamily="18" charset="0"/>
                <a:cs typeface="Times New Roman" panose="02020603050405020304" pitchFamily="18" charset="0"/>
                <a:sym typeface="+mn-ea"/>
              </a:rPr>
              <a:t>Cost-effective</a:t>
            </a:r>
            <a:r>
              <a:rPr lang="en-US" sz="8000" dirty="0">
                <a:ln>
                  <a:noFill/>
                </a:ln>
                <a:effectLst/>
                <a:latin typeface="Times New Roman" panose="02020603050405020304" pitchFamily="18" charset="0"/>
                <a:cs typeface="Times New Roman" panose="02020603050405020304" pitchFamily="18" charset="0"/>
                <a:sym typeface="+mn-ea"/>
              </a:rPr>
              <a:t>: Uses affordable components like </a:t>
            </a:r>
            <a:r>
              <a:rPr lang="en-US" sz="8000" dirty="0" err="1">
                <a:ln>
                  <a:noFill/>
                </a:ln>
                <a:effectLst/>
                <a:latin typeface="Times New Roman" panose="02020603050405020304" pitchFamily="18" charset="0"/>
                <a:cs typeface="Times New Roman" panose="02020603050405020304" pitchFamily="18" charset="0"/>
                <a:sym typeface="+mn-ea"/>
              </a:rPr>
              <a:t>Arduino</a:t>
            </a:r>
            <a:r>
              <a:rPr lang="en-US" sz="8000" dirty="0">
                <a:ln>
                  <a:noFill/>
                </a:ln>
                <a:effectLst/>
                <a:latin typeface="Times New Roman" panose="02020603050405020304" pitchFamily="18" charset="0"/>
                <a:cs typeface="Times New Roman" panose="02020603050405020304" pitchFamily="18" charset="0"/>
                <a:sym typeface="+mn-ea"/>
              </a:rPr>
              <a:t>, making it accessible to a wide audience.</a:t>
            </a:r>
            <a:endParaRPr kumimoji="0" lang="en-US" sz="8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lang="en-US" sz="8000" b="1" dirty="0">
                <a:ln>
                  <a:noFill/>
                </a:ln>
                <a:effectLst/>
                <a:latin typeface="Times New Roman" panose="02020603050405020304" pitchFamily="18" charset="0"/>
                <a:cs typeface="Times New Roman" panose="02020603050405020304" pitchFamily="18" charset="0"/>
                <a:sym typeface="+mn-ea"/>
              </a:rPr>
              <a:t>Remote access</a:t>
            </a:r>
            <a:r>
              <a:rPr lang="en-US" sz="8000" dirty="0">
                <a:ln>
                  <a:noFill/>
                </a:ln>
                <a:effectLst/>
                <a:latin typeface="Times New Roman" panose="02020603050405020304" pitchFamily="18" charset="0"/>
                <a:cs typeface="Times New Roman" panose="02020603050405020304" pitchFamily="18" charset="0"/>
                <a:sym typeface="+mn-ea"/>
              </a:rPr>
              <a:t>: Allows control and monitoring from any location using Wi-Fi.</a:t>
            </a:r>
            <a:endParaRPr kumimoji="0" lang="en-US" sz="8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lang="en-US" sz="8000" b="1" dirty="0">
                <a:ln>
                  <a:noFill/>
                </a:ln>
                <a:effectLst/>
                <a:latin typeface="Times New Roman" panose="02020603050405020304" pitchFamily="18" charset="0"/>
                <a:cs typeface="Times New Roman" panose="02020603050405020304" pitchFamily="18" charset="0"/>
                <a:sym typeface="+mn-ea"/>
              </a:rPr>
              <a:t>User-friendly</a:t>
            </a:r>
            <a:r>
              <a:rPr lang="en-US" sz="8000" dirty="0">
                <a:ln>
                  <a:noFill/>
                </a:ln>
                <a:effectLst/>
                <a:latin typeface="Times New Roman" panose="02020603050405020304" pitchFamily="18" charset="0"/>
                <a:cs typeface="Times New Roman" panose="02020603050405020304" pitchFamily="18" charset="0"/>
                <a:sym typeface="+mn-ea"/>
              </a:rPr>
              <a:t>: Simple to operate with a focus on ease of installation and use. </a:t>
            </a:r>
            <a:endParaRPr kumimoji="0" lang="en-US" sz="8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sz="6855" dirty="0">
              <a:latin typeface="Times New Roman" panose="02020603050405020304" pitchFamily="18" charset="0"/>
              <a:cs typeface="Times New Roman" panose="02020603050405020304" pitchFamily="18" charset="0"/>
            </a:endParaRPr>
          </a:p>
          <a:p>
            <a:endParaRPr lang="en-US" sz="4800" dirty="0">
              <a:latin typeface="Times New Roman" panose="02020603050405020304" pitchFamily="18" charset="0"/>
              <a:cs typeface="Times New Roman" panose="02020603050405020304" pitchFamily="18" charset="0"/>
            </a:endParaRPr>
          </a:p>
          <a:p>
            <a:endParaRPr lang="en-US" sz="4800" dirty="0">
              <a:latin typeface="Times New Roman" panose="02020603050405020304" pitchFamily="18" charset="0"/>
              <a:cs typeface="Times New Roman" panose="02020603050405020304" pitchFamily="18" charset="0"/>
            </a:endParaRPr>
          </a:p>
          <a:p>
            <a:endParaRPr lang="en-US" sz="4800" dirty="0">
              <a:latin typeface="Times New Roman" panose="02020603050405020304" pitchFamily="18" charset="0"/>
              <a:cs typeface="Times New Roman" panose="02020603050405020304" pitchFamily="18" charset="0"/>
            </a:endParaRPr>
          </a:p>
          <a:p>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045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5250"/>
            <a:ext cx="8229600" cy="1276350"/>
          </a:xfrm>
        </p:spPr>
        <p:txBody>
          <a:bodyPr>
            <a:normAutofit/>
          </a:bodyPr>
          <a:lstStyle/>
          <a:p>
            <a:r>
              <a:rPr lang="en-US" sz="3200" b="1" dirty="0">
                <a:latin typeface="Times New Roman" panose="02020603050405020304" pitchFamily="18" charset="0"/>
                <a:cs typeface="Times New Roman" panose="02020603050405020304" pitchFamily="18" charset="0"/>
              </a:rPr>
              <a:t>APPLICATIONS</a:t>
            </a:r>
            <a:br>
              <a:rPr lang="en-US" sz="3200" b="1" dirty="0">
                <a:latin typeface="Times New Roman" panose="02020603050405020304" pitchFamily="18" charset="0"/>
                <a:cs typeface="Times New Roman" panose="02020603050405020304" pitchFamily="18" charset="0"/>
              </a:rPr>
            </a:br>
            <a:endParaRPr lang="en-US" sz="3200" b="1" dirty="0"/>
          </a:p>
        </p:txBody>
      </p:sp>
      <p:sp>
        <p:nvSpPr>
          <p:cNvPr id="3" name="Content Placeholder 2"/>
          <p:cNvSpPr>
            <a:spLocks noGrp="1"/>
          </p:cNvSpPr>
          <p:nvPr>
            <p:ph idx="1"/>
          </p:nvPr>
        </p:nvSpPr>
        <p:spPr>
          <a:xfrm>
            <a:off x="76200" y="685800"/>
            <a:ext cx="8907145" cy="6096635"/>
          </a:xfrm>
        </p:spPr>
        <p:txBody>
          <a:bodyPr>
            <a:normAutofit fontScale="37500" lnSpcReduction="20000"/>
          </a:bodyPr>
          <a:lstStyle/>
          <a:p>
            <a:pPr marL="0" marR="0" lvl="0" indent="0" algn="just" defTabSz="914400" rtl="0" eaLnBrk="1" fontAlgn="base" latinLnBrk="0" hangingPunct="1">
              <a:lnSpc>
                <a:spcPct val="150000"/>
              </a:lnSpc>
              <a:spcBef>
                <a:spcPct val="0"/>
              </a:spcBef>
              <a:spcAft>
                <a:spcPct val="0"/>
              </a:spcAft>
              <a:buClrTx/>
              <a:buSzTx/>
              <a:buFontTx/>
              <a:buNone/>
            </a:pPr>
            <a:r>
              <a:rPr lang="en-US" sz="8000" b="1" dirty="0">
                <a:ln>
                  <a:noFill/>
                </a:ln>
                <a:effectLst/>
                <a:latin typeface="Times New Roman" panose="02020603050405020304" pitchFamily="18" charset="0"/>
                <a:cs typeface="Times New Roman" panose="02020603050405020304" pitchFamily="18" charset="0"/>
                <a:sym typeface="+mn-ea"/>
              </a:rPr>
              <a:t>.</a:t>
            </a:r>
            <a:r>
              <a:rPr lang="en-US" sz="6665" b="1" dirty="0">
                <a:ln>
                  <a:noFill/>
                </a:ln>
                <a:effectLst/>
                <a:latin typeface="Times New Roman" panose="02020603050405020304" pitchFamily="18" charset="0"/>
                <a:cs typeface="Times New Roman" panose="02020603050405020304" pitchFamily="18" charset="0"/>
                <a:sym typeface="+mn-ea"/>
              </a:rPr>
              <a:t>Home automation</a:t>
            </a:r>
            <a:r>
              <a:rPr lang="en-US" sz="6665" dirty="0">
                <a:ln>
                  <a:noFill/>
                </a:ln>
                <a:effectLst/>
                <a:latin typeface="Times New Roman" panose="02020603050405020304" pitchFamily="18" charset="0"/>
                <a:cs typeface="Times New Roman" panose="02020603050405020304" pitchFamily="18" charset="0"/>
                <a:sym typeface="+mn-ea"/>
              </a:rPr>
              <a:t>: Control lighting, fans, and other appliances using voice commands.</a:t>
            </a:r>
            <a:endParaRPr kumimoji="0" lang="en-US" sz="6665"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lang="en-US" sz="6665" b="1" dirty="0">
                <a:ln>
                  <a:noFill/>
                </a:ln>
                <a:effectLst/>
                <a:latin typeface="Times New Roman" panose="02020603050405020304" pitchFamily="18" charset="0"/>
                <a:cs typeface="Times New Roman" panose="02020603050405020304" pitchFamily="18" charset="0"/>
                <a:sym typeface="+mn-ea"/>
              </a:rPr>
              <a:t>Energy monitoring</a:t>
            </a:r>
            <a:r>
              <a:rPr lang="en-US" sz="6665" dirty="0">
                <a:ln>
                  <a:noFill/>
                </a:ln>
                <a:effectLst/>
                <a:latin typeface="Times New Roman" panose="02020603050405020304" pitchFamily="18" charset="0"/>
                <a:cs typeface="Times New Roman" panose="02020603050405020304" pitchFamily="18" charset="0"/>
                <a:sym typeface="+mn-ea"/>
              </a:rPr>
              <a:t>: Real-time power consumption measurement for efficient energy management.</a:t>
            </a:r>
            <a:endParaRPr kumimoji="0" lang="en-US" sz="6665"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lang="en-US" sz="6665" b="1" dirty="0">
                <a:ln>
                  <a:noFill/>
                </a:ln>
                <a:effectLst/>
                <a:latin typeface="Times New Roman" panose="02020603050405020304" pitchFamily="18" charset="0"/>
                <a:cs typeface="Times New Roman" panose="02020603050405020304" pitchFamily="18" charset="0"/>
                <a:sym typeface="+mn-ea"/>
              </a:rPr>
              <a:t>Security systems</a:t>
            </a:r>
            <a:r>
              <a:rPr lang="en-US" sz="6665" dirty="0">
                <a:ln>
                  <a:noFill/>
                </a:ln>
                <a:effectLst/>
                <a:latin typeface="Times New Roman" panose="02020603050405020304" pitchFamily="18" charset="0"/>
                <a:cs typeface="Times New Roman" panose="02020603050405020304" pitchFamily="18" charset="0"/>
                <a:sym typeface="+mn-ea"/>
              </a:rPr>
              <a:t>: Integration of motion sensors, door alarms, and surveillance for home security.</a:t>
            </a:r>
            <a:endParaRPr kumimoji="0" lang="en-US" sz="6665"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lang="en-US" sz="6665" b="1" dirty="0">
                <a:ln>
                  <a:noFill/>
                </a:ln>
                <a:effectLst/>
                <a:latin typeface="Times New Roman" panose="02020603050405020304" pitchFamily="18" charset="0"/>
                <a:cs typeface="Times New Roman" panose="02020603050405020304" pitchFamily="18" charset="0"/>
                <a:sym typeface="+mn-ea"/>
              </a:rPr>
              <a:t>Remote home control</a:t>
            </a:r>
            <a:r>
              <a:rPr lang="en-US" sz="6665" dirty="0">
                <a:ln>
                  <a:noFill/>
                </a:ln>
                <a:effectLst/>
                <a:latin typeface="Times New Roman" panose="02020603050405020304" pitchFamily="18" charset="0"/>
                <a:cs typeface="Times New Roman" panose="02020603050405020304" pitchFamily="18" charset="0"/>
                <a:sym typeface="+mn-ea"/>
              </a:rPr>
              <a:t>: Manage and monitor appliances via mobile apps and Wi-Fi.</a:t>
            </a:r>
            <a:endParaRPr kumimoji="0" lang="en-US" sz="6665"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pPr>
            <a:r>
              <a:rPr lang="en-US" sz="6665" b="1" dirty="0">
                <a:ln>
                  <a:noFill/>
                </a:ln>
                <a:effectLst/>
                <a:latin typeface="Times New Roman" panose="02020603050405020304" pitchFamily="18" charset="0"/>
                <a:cs typeface="Times New Roman" panose="02020603050405020304" pitchFamily="18" charset="0"/>
                <a:sym typeface="+mn-ea"/>
              </a:rPr>
              <a:t>Elderly or disabled assistance</a:t>
            </a:r>
            <a:r>
              <a:rPr lang="en-US" sz="6665" dirty="0">
                <a:ln>
                  <a:noFill/>
                </a:ln>
                <a:effectLst/>
                <a:latin typeface="Times New Roman" panose="02020603050405020304" pitchFamily="18" charset="0"/>
                <a:cs typeface="Times New Roman" panose="02020603050405020304" pitchFamily="18" charset="0"/>
                <a:sym typeface="+mn-ea"/>
              </a:rPr>
              <a:t>: Hands-free appliance control through speech recognition for ease of living. </a:t>
            </a:r>
            <a:endParaRPr kumimoji="0" lang="en-US" sz="6665"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endParaRPr lang="en-US" sz="6665" dirty="0">
              <a:latin typeface="Times New Roman" panose="02020603050405020304" pitchFamily="18" charset="0"/>
              <a:cs typeface="Times New Roman" panose="02020603050405020304" pitchFamily="18" charset="0"/>
            </a:endParaRPr>
          </a:p>
          <a:p>
            <a:pPr marL="0" indent="0">
              <a:buNone/>
            </a:pPr>
            <a:endParaRPr lang="en-US" sz="666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054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9F171-69CE-46BE-B28C-50F58A635658}"/>
              </a:ext>
            </a:extLst>
          </p:cNvPr>
          <p:cNvSpPr>
            <a:spLocks noGrp="1"/>
          </p:cNvSpPr>
          <p:nvPr>
            <p:ph type="title"/>
          </p:nvPr>
        </p:nvSpPr>
        <p:spPr>
          <a:xfrm>
            <a:off x="-4343400" y="0"/>
            <a:ext cx="12858750" cy="914400"/>
          </a:xfrm>
        </p:spPr>
        <p:txBody>
          <a:bodyPr>
            <a:normAutofit/>
          </a:bodyPr>
          <a:lstStyle/>
          <a:p>
            <a:r>
              <a:rPr lang="en-US" sz="2700" b="1"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14.CONCLUSIONS</a:t>
            </a:r>
          </a:p>
        </p:txBody>
      </p:sp>
      <p:sp>
        <p:nvSpPr>
          <p:cNvPr id="3" name="Content Placeholder 2">
            <a:extLst>
              <a:ext uri="{FF2B5EF4-FFF2-40B4-BE49-F238E27FC236}">
                <a16:creationId xmlns:a16="http://schemas.microsoft.com/office/drawing/2014/main" id="{934150E2-5BE4-416D-B2B2-D2266DF5256C}"/>
              </a:ext>
            </a:extLst>
          </p:cNvPr>
          <p:cNvSpPr>
            <a:spLocks noGrp="1"/>
          </p:cNvSpPr>
          <p:nvPr>
            <p:ph idx="1"/>
          </p:nvPr>
        </p:nvSpPr>
        <p:spPr>
          <a:xfrm>
            <a:off x="414338" y="838200"/>
            <a:ext cx="8229600" cy="5791200"/>
          </a:xfrm>
        </p:spPr>
        <p:txBody>
          <a:bodyPr>
            <a:normAutofit/>
          </a:bodyPr>
          <a:lstStyle/>
          <a:p>
            <a:pPr marL="514350" indent="-514350" algn="just">
              <a:buAutoNum type="arabicPeriod"/>
            </a:pPr>
            <a:r>
              <a:rPr lang="en-US" sz="2000" dirty="0">
                <a:latin typeface="Times New Roman" pitchFamily="18" charset="0"/>
                <a:cs typeface="Times New Roman" pitchFamily="18" charset="0"/>
              </a:rPr>
              <a:t>Using the Raspberry Pi 4 for home automation through voice commands provides a cost-effective, customizable, and powerful solution for smart homes. With its robust processing power, multiple connectivity options, and compatibility with voice recognition software like Google Assistant or Mycroft AI, the Raspberry Pi 4 can efficiently control various smart devices.</a:t>
            </a:r>
          </a:p>
          <a:p>
            <a:pPr marL="514350" indent="-514350" algn="just">
              <a:buAutoNum type="arabicPeriod"/>
            </a:pPr>
            <a:r>
              <a:rPr lang="en-US" sz="2000" dirty="0">
                <a:latin typeface="Times New Roman" pitchFamily="18" charset="0"/>
                <a:cs typeface="Times New Roman" pitchFamily="18" charset="0"/>
              </a:rPr>
              <a:t>This setup enhances convenience, energy efficiency, and security by allowing users to operate lights, appliances, and security systems using voice commands. Additionally, open-source support and community-driven development enable further improvements and customization.</a:t>
            </a:r>
            <a:endParaRPr lang="en-US" sz="2000" dirty="0"/>
          </a:p>
        </p:txBody>
      </p:sp>
    </p:spTree>
    <p:extLst>
      <p:ext uri="{BB962C8B-B14F-4D97-AF65-F5344CB8AC3E}">
        <p14:creationId xmlns:p14="http://schemas.microsoft.com/office/powerpoint/2010/main" val="5771373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Autofit/>
          </a:bodyPr>
          <a:lstStyle/>
          <a:p>
            <a:r>
              <a:rPr lang="en-US" sz="3200" b="1" dirty="0">
                <a:latin typeface="Times New Roman" panose="02020603050405020304" pitchFamily="18" charset="0"/>
                <a:cs typeface="Times New Roman" panose="02020603050405020304" pitchFamily="18" charset="0"/>
              </a:rPr>
              <a:t>REFERENCES</a:t>
            </a:r>
            <a:br>
              <a:rPr lang="en-US" sz="3200" dirty="0">
                <a:latin typeface="Times New Roman" panose="02020603050405020304" pitchFamily="18" charset="0"/>
                <a:cs typeface="Times New Roman" panose="02020603050405020304" pitchFamily="18" charset="0"/>
              </a:rPr>
            </a:br>
            <a:endParaRPr lang="en-US" sz="3200" dirty="0"/>
          </a:p>
        </p:txBody>
      </p:sp>
      <p:sp>
        <p:nvSpPr>
          <p:cNvPr id="3" name="Content Placeholder 2"/>
          <p:cNvSpPr>
            <a:spLocks noGrp="1"/>
          </p:cNvSpPr>
          <p:nvPr>
            <p:ph idx="1"/>
          </p:nvPr>
        </p:nvSpPr>
        <p:spPr>
          <a:xfrm>
            <a:off x="228600" y="762000"/>
            <a:ext cx="8839200" cy="5840095"/>
          </a:xfrm>
        </p:spPr>
        <p:txBody>
          <a:bodyPr>
            <a:normAutofit fontScale="25000" lnSpcReduction="20000"/>
          </a:bodyPr>
          <a:lstStyle/>
          <a:p>
            <a:pPr algn="just"/>
            <a:r>
              <a:rPr lang="en-IN" sz="6400" dirty="0" err="1">
                <a:latin typeface="Times New Roman" panose="02020603050405020304" pitchFamily="18" charset="0"/>
                <a:cs typeface="Times New Roman" panose="02020603050405020304" pitchFamily="18" charset="0"/>
              </a:rPr>
              <a:t>Irugalbandara</a:t>
            </a:r>
            <a:r>
              <a:rPr lang="en-IN" sz="6400" dirty="0">
                <a:latin typeface="Times New Roman" panose="02020603050405020304" pitchFamily="18" charset="0"/>
                <a:cs typeface="Times New Roman" panose="02020603050405020304" pitchFamily="18" charset="0"/>
              </a:rPr>
              <a:t>, C.; Naseem, A.S.; Perera, S.; </a:t>
            </a:r>
            <a:r>
              <a:rPr lang="en-IN" sz="6400" dirty="0" err="1">
                <a:latin typeface="Times New Roman" panose="02020603050405020304" pitchFamily="18" charset="0"/>
                <a:cs typeface="Times New Roman" panose="02020603050405020304" pitchFamily="18" charset="0"/>
              </a:rPr>
              <a:t>Kiruthikan</a:t>
            </a:r>
            <a:r>
              <a:rPr lang="en-IN" sz="6400" dirty="0">
                <a:latin typeface="Times New Roman" panose="02020603050405020304" pitchFamily="18" charset="0"/>
                <a:cs typeface="Times New Roman" panose="02020603050405020304" pitchFamily="18" charset="0"/>
              </a:rPr>
              <a:t>, S.; </a:t>
            </a:r>
            <a:r>
              <a:rPr lang="en-IN" sz="6400" dirty="0" err="1">
                <a:latin typeface="Times New Roman" panose="02020603050405020304" pitchFamily="18" charset="0"/>
                <a:cs typeface="Times New Roman" panose="02020603050405020304" pitchFamily="18" charset="0"/>
              </a:rPr>
              <a:t>Logeeshan</a:t>
            </a:r>
            <a:r>
              <a:rPr lang="en-IN" sz="6400" dirty="0">
                <a:latin typeface="Times New Roman" panose="02020603050405020304" pitchFamily="18" charset="0"/>
                <a:cs typeface="Times New Roman" panose="02020603050405020304" pitchFamily="18" charset="0"/>
              </a:rPr>
              <a:t>, V. "A Secure and Smart Home Automation System with Speech Recognition and Power Measurement Capabilities," </a:t>
            </a:r>
            <a:r>
              <a:rPr lang="en-IN" sz="6400" i="1" dirty="0">
                <a:latin typeface="Times New Roman" panose="02020603050405020304" pitchFamily="18" charset="0"/>
                <a:cs typeface="Times New Roman" panose="02020603050405020304" pitchFamily="18" charset="0"/>
              </a:rPr>
              <a:t>Sensors</a:t>
            </a:r>
            <a:r>
              <a:rPr lang="en-IN" sz="6400" dirty="0">
                <a:latin typeface="Times New Roman" panose="02020603050405020304" pitchFamily="18" charset="0"/>
                <a:cs typeface="Times New Roman" panose="02020603050405020304" pitchFamily="18" charset="0"/>
              </a:rPr>
              <a:t>, 2023, 23, 5784. https://doi.org/10.3390/s23135784&amp;#8203;:contentReference[oaicite:0]{index=0}.</a:t>
            </a:r>
          </a:p>
          <a:p>
            <a:pPr algn="just"/>
            <a:r>
              <a:rPr lang="en-US" sz="6400" dirty="0">
                <a:latin typeface="Times New Roman" panose="02020603050405020304" pitchFamily="18" charset="0"/>
                <a:cs typeface="Times New Roman" panose="02020603050405020304" pitchFamily="18" charset="0"/>
              </a:rPr>
              <a:t>automation systems. In Proceedings of the 2018 IEEE Symposium on Computer Applications &amp; Industrial Electronics (ISCAIE</a:t>
            </a:r>
          </a:p>
          <a:p>
            <a:pPr algn="just"/>
            <a:r>
              <a:rPr lang="en-US" sz="6400" dirty="0">
                <a:latin typeface="Times New Roman" panose="02020603050405020304" pitchFamily="18" charset="0"/>
                <a:cs typeface="Times New Roman" panose="02020603050405020304" pitchFamily="18" charset="0"/>
              </a:rPr>
              <a:t>2018), Penang, Malaysia, 28–29 April 2018; pp. 71–77. [CrossRef]</a:t>
            </a:r>
          </a:p>
          <a:p>
            <a:pPr algn="just"/>
            <a:r>
              <a:rPr lang="en-US" sz="6400" dirty="0">
                <a:latin typeface="Times New Roman" panose="02020603050405020304" pitchFamily="18" charset="0"/>
                <a:cs typeface="Times New Roman" panose="02020603050405020304" pitchFamily="18" charset="0"/>
              </a:rPr>
              <a:t> Lau, J.; Zimmerman, B.; Schaub, F. Alexa, Are You Listening? Proc. ACM Hum.-Comput. Interact. 2018, 2. [CrossRef]</a:t>
            </a:r>
          </a:p>
          <a:p>
            <a:pPr algn="just"/>
            <a:r>
              <a:rPr lang="en-US" sz="6400" dirty="0" err="1">
                <a:latin typeface="Times New Roman" panose="02020603050405020304" pitchFamily="18" charset="0"/>
                <a:cs typeface="Times New Roman" panose="02020603050405020304" pitchFamily="18" charset="0"/>
              </a:rPr>
              <a:t>Irugalbandara</a:t>
            </a:r>
            <a:r>
              <a:rPr lang="en-US" sz="6400" dirty="0">
                <a:latin typeface="Times New Roman" panose="02020603050405020304" pitchFamily="18" charset="0"/>
                <a:cs typeface="Times New Roman" panose="02020603050405020304" pitchFamily="18" charset="0"/>
              </a:rPr>
              <a:t>, I.B.C.; Naseem, A.S.M.; Perera, M.S.H.; Logeeshan, V. HomeIO: Offline Smart Home Automation System with</a:t>
            </a:r>
          </a:p>
          <a:p>
            <a:pPr algn="just"/>
            <a:r>
              <a:rPr lang="en-US" sz="6400" dirty="0">
                <a:latin typeface="Times New Roman" panose="02020603050405020304" pitchFamily="18" charset="0"/>
                <a:cs typeface="Times New Roman" panose="02020603050405020304" pitchFamily="18" charset="0"/>
              </a:rPr>
              <a:t>Automatic Speech Recognition and Household Power Usage Tracking. In Proceedings of the 2022 IEEE World AI IoT Congress</a:t>
            </a:r>
          </a:p>
          <a:p>
            <a:pPr algn="just"/>
            <a:r>
              <a:rPr lang="en-US" sz="6400" dirty="0">
                <a:latin typeface="Times New Roman" panose="02020603050405020304" pitchFamily="18" charset="0"/>
                <a:cs typeface="Times New Roman" panose="02020603050405020304" pitchFamily="18" charset="0"/>
              </a:rPr>
              <a:t>(AIIoT), Seattle, WA, USA, 6–9 June 2022; pp. 571–577. [CrossRef]</a:t>
            </a:r>
          </a:p>
          <a:p>
            <a:pPr algn="just"/>
            <a:r>
              <a:rPr lang="en-US" sz="6400" dirty="0" err="1">
                <a:latin typeface="Times New Roman" panose="02020603050405020304" pitchFamily="18" charset="0"/>
                <a:cs typeface="Times New Roman" panose="02020603050405020304" pitchFamily="18" charset="0"/>
              </a:rPr>
              <a:t>Errobidart</a:t>
            </a:r>
            <a:r>
              <a:rPr lang="en-US" sz="6400" dirty="0">
                <a:latin typeface="Times New Roman" panose="02020603050405020304" pitchFamily="18" charset="0"/>
                <a:cs typeface="Times New Roman" panose="02020603050405020304" pitchFamily="18" charset="0"/>
              </a:rPr>
              <a:t>, J.; Uriz, A.J.; Gonzalez, E.; Gelosi, I.E.; Etcheverry, J.A. Offline domotic system using voice comands. In Proceedings of</a:t>
            </a:r>
          </a:p>
          <a:p>
            <a:pPr algn="just"/>
            <a:r>
              <a:rPr lang="en-US" sz="6400" dirty="0">
                <a:latin typeface="Times New Roman" panose="02020603050405020304" pitchFamily="18" charset="0"/>
                <a:cs typeface="Times New Roman" panose="02020603050405020304" pitchFamily="18" charset="0"/>
              </a:rPr>
              <a:t>the 2017 Eight Argentine Symposium and Conference on Embedded Systems (CASE), Buenos Aires, Argentina, 9–11 August</a:t>
            </a:r>
          </a:p>
          <a:p>
            <a:pPr algn="just"/>
            <a:r>
              <a:rPr lang="en-US" sz="6400" dirty="0">
                <a:latin typeface="Times New Roman" panose="02020603050405020304" pitchFamily="18" charset="0"/>
                <a:cs typeface="Times New Roman" panose="02020603050405020304" pitchFamily="18" charset="0"/>
              </a:rPr>
              <a:t>2017; pp. 25–30. [CrossRef]</a:t>
            </a:r>
          </a:p>
          <a:p>
            <a:pPr algn="just"/>
            <a:r>
              <a:rPr lang="en-US" sz="6400" dirty="0">
                <a:latin typeface="Times New Roman" panose="02020603050405020304" pitchFamily="18" charset="0"/>
                <a:cs typeface="Times New Roman" panose="02020603050405020304" pitchFamily="18" charset="0"/>
              </a:rPr>
              <a:t> EasyVR 3 Plus Shield for Arduino—COM-15453-SparkFun Electronics. Available online: https://www.sparkfun.com/products/</a:t>
            </a:r>
          </a:p>
          <a:p>
            <a:pPr algn="just"/>
            <a:r>
              <a:rPr lang="en-US" sz="6400" dirty="0">
                <a:latin typeface="Times New Roman" panose="02020603050405020304" pitchFamily="18" charset="0"/>
                <a:cs typeface="Times New Roman" panose="02020603050405020304" pitchFamily="18" charset="0"/>
              </a:rPr>
              <a:t>15453 (accessed on 24 July 2022).</a:t>
            </a:r>
          </a:p>
          <a:p>
            <a:pPr algn="just"/>
            <a:endParaRPr lang="en-US" sz="6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40362"/>
          </a:xfrm>
        </p:spPr>
        <p:txBody>
          <a:bodyPr>
            <a:normAutofit/>
          </a:bodyPr>
          <a:lstStyle/>
          <a:p>
            <a:r>
              <a:rPr lang="en-US" sz="6600" b="1" dirty="0">
                <a:latin typeface="Times New Roman" panose="02020603050405020304" pitchFamily="18" charset="0"/>
                <a:cs typeface="Times New Roman" panose="02020603050405020304" pitchFamily="18" charset="0"/>
              </a:rPr>
              <a:t>QUERIES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438400"/>
            <a:ext cx="8229600" cy="3687763"/>
          </a:xfrm>
        </p:spPr>
        <p:txBody>
          <a:bodyPr>
            <a:normAutofit/>
          </a:bodyPr>
          <a:lstStyle/>
          <a:p>
            <a:pPr algn="ctr">
              <a:buNone/>
            </a:pPr>
            <a:r>
              <a:rPr lang="en-US" sz="6600" b="1" dirty="0">
                <a:latin typeface="Times New Roman" panose="02020603050405020304" pitchFamily="18" charset="0"/>
                <a:cs typeface="Times New Roman" panose="02020603050405020304" pitchFamily="18" charset="0"/>
                <a:sym typeface="+mn-ea"/>
              </a:rPr>
              <a:t>THANK YOU</a:t>
            </a:r>
            <a:endParaRPr lang="en-US" sz="6600" b="1" dirty="0">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92*481"/>
  <p:tag name="TABLE_ENDDRAG_RECT" val="13*50*692*481"/>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98*518"/>
  <p:tag name="TABLE_ENDDRAG_RECT" val="10*10*698*518"/>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705*535"/>
  <p:tag name="TABLE_ENDDRAG_RECT" val="8*5*705*535"/>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699*520"/>
  <p:tag name="TABLE_ENDDRAG_RECT" val="6*8*699*52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693</TotalTime>
  <Words>2633</Words>
  <Application>Microsoft Office PowerPoint</Application>
  <PresentationFormat>On-screen Show (4:3)</PresentationFormat>
  <Paragraphs>335</Paragraphs>
  <Slides>30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Times New Roman</vt:lpstr>
      <vt:lpstr>Office Theme</vt:lpstr>
      <vt:lpstr>A SECURE AND SMART HOME AUTOMATION SYSTEM WITH SPEECH RECOGNITION AND POWER MEASUREMENT CAPABILITIES</vt:lpstr>
      <vt:lpstr>CONTENTS</vt:lpstr>
      <vt:lpstr>1.ABSTRACT</vt:lpstr>
      <vt:lpstr>2.INTRODUCTION</vt:lpstr>
      <vt:lpstr> 3.LITERATURE SURVEY </vt:lpstr>
      <vt:lpstr>LITERATURE SURVEY</vt:lpstr>
      <vt:lpstr>LITERATURE SURVEY</vt:lpstr>
      <vt:lpstr>LITERATURE SURVEY</vt:lpstr>
      <vt:lpstr>LITERATURE SURVEY</vt:lpstr>
      <vt:lpstr>LITERATURE SURVEY </vt:lpstr>
      <vt:lpstr>PowerPoint Presentation</vt:lpstr>
      <vt:lpstr>PowerPoint Presentation</vt:lpstr>
      <vt:lpstr>PowerPoint Presentation</vt:lpstr>
      <vt:lpstr>4.EXISTING SYSTEM</vt:lpstr>
      <vt:lpstr>5.EXISTING BLOCK DIAGRAM</vt:lpstr>
      <vt:lpstr>Speech Recognition Process</vt:lpstr>
      <vt:lpstr>System Architecture</vt:lpstr>
      <vt:lpstr>6.EXISTING SYSTEM DRAWBACKS </vt:lpstr>
      <vt:lpstr>7.PROPOSED SYSTEM NECESSITY (Problem Identification)</vt:lpstr>
      <vt:lpstr>   </vt:lpstr>
      <vt:lpstr>9.PROPOSED METHOD</vt:lpstr>
      <vt:lpstr>10.PROJECT REQUIREMENTS</vt:lpstr>
      <vt:lpstr>Software Requirements: </vt:lpstr>
      <vt:lpstr> 11.RESULTS AND ITS ANALYSIS </vt:lpstr>
      <vt:lpstr>10.ADVANTAGES  </vt:lpstr>
      <vt:lpstr>APPLICATIONS </vt:lpstr>
      <vt:lpstr>                              14.CONCLUSIONS</vt:lpstr>
      <vt:lpstr>REFERENCES </vt:lpstr>
      <vt:lpstr>QUERIES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OF ALERTING DRIVER USING LPC 2148 AND BUS ARRIVAL TIME MONITORING SYSTEM”</dc:title>
  <dc:creator>USHARAMA</dc:creator>
  <cp:lastModifiedBy>teja vejju</cp:lastModifiedBy>
  <cp:revision>65</cp:revision>
  <dcterms:created xsi:type="dcterms:W3CDTF">2006-08-16T00:00:00Z</dcterms:created>
  <dcterms:modified xsi:type="dcterms:W3CDTF">2025-04-16T05:27:13Z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0ACB5BCABBF44E12ACEC24F3408CC3BD_13</vt:lpwstr>
  </property>
  <property fmtid="{D5CDD505-2E9C-101B-9397-08002B2CF9AE}" pid="3" name="KSOProductBuildVer">
    <vt:lpwstr>2057-12.2.0.19307</vt:lpwstr>
  </property>
</Properties>
</file>